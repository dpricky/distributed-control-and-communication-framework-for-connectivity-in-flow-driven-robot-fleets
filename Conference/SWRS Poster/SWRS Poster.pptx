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20104100" cy="13404850"/>
  <p:notesSz cx="20104100" cy="134048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BBDFEC-5A97-4568-9B0D-5154FFA23433}" v="7" dt="2025-10-21T19:03:00.737"/>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44" d="100"/>
          <a:sy n="44" d="100"/>
        </p:scale>
        <p:origin x="891" y="4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jjwal Dutta (Student)" userId="bf30f48b-0efb-4df2-989b-8993888db3d6" providerId="ADAL" clId="{2E51681D-03C2-4005-B0E5-2A87E3AB6A66}"/>
    <pc:docChg chg="undo custSel addSld delSld modSld">
      <pc:chgData name="Prajjwal Dutta (Student)" userId="bf30f48b-0efb-4df2-989b-8993888db3d6" providerId="ADAL" clId="{2E51681D-03C2-4005-B0E5-2A87E3AB6A66}" dt="2025-10-21T19:23:47.447" v="31" actId="20577"/>
      <pc:docMkLst>
        <pc:docMk/>
      </pc:docMkLst>
      <pc:sldChg chg="modSp add del mod">
        <pc:chgData name="Prajjwal Dutta (Student)" userId="bf30f48b-0efb-4df2-989b-8993888db3d6" providerId="ADAL" clId="{2E51681D-03C2-4005-B0E5-2A87E3AB6A66}" dt="2025-10-21T19:23:47.447" v="31" actId="20577"/>
        <pc:sldMkLst>
          <pc:docMk/>
          <pc:sldMk cId="0" sldId="256"/>
        </pc:sldMkLst>
        <pc:spChg chg="mod">
          <ac:chgData name="Prajjwal Dutta (Student)" userId="bf30f48b-0efb-4df2-989b-8993888db3d6" providerId="ADAL" clId="{2E51681D-03C2-4005-B0E5-2A87E3AB6A66}" dt="2025-10-21T19:03:09.095" v="30" actId="14100"/>
          <ac:spMkLst>
            <pc:docMk/>
            <pc:sldMk cId="0" sldId="256"/>
            <ac:spMk id="3" creationId="{00000000-0000-0000-0000-000000000000}"/>
          </ac:spMkLst>
        </pc:spChg>
        <pc:spChg chg="mod">
          <ac:chgData name="Prajjwal Dutta (Student)" userId="bf30f48b-0efb-4df2-989b-8993888db3d6" providerId="ADAL" clId="{2E51681D-03C2-4005-B0E5-2A87E3AB6A66}" dt="2025-10-21T19:23:47.447" v="31" actId="20577"/>
          <ac:spMkLst>
            <pc:docMk/>
            <pc:sldMk cId="0" sldId="256"/>
            <ac:spMk id="8" creationId="{00000000-0000-0000-0000-000000000000}"/>
          </ac:spMkLst>
        </pc:spChg>
        <pc:spChg chg="mod">
          <ac:chgData name="Prajjwal Dutta (Student)" userId="bf30f48b-0efb-4df2-989b-8993888db3d6" providerId="ADAL" clId="{2E51681D-03C2-4005-B0E5-2A87E3AB6A66}" dt="2025-10-21T18:45:54.594" v="13" actId="20577"/>
          <ac:spMkLst>
            <pc:docMk/>
            <pc:sldMk cId="0" sldId="256"/>
            <ac:spMk id="31" creationId="{C2EB1775-F1B0-013A-45E2-F538F5C6DAD2}"/>
          </ac:spMkLst>
        </pc:spChg>
        <pc:spChg chg="mod">
          <ac:chgData name="Prajjwal Dutta (Student)" userId="bf30f48b-0efb-4df2-989b-8993888db3d6" providerId="ADAL" clId="{2E51681D-03C2-4005-B0E5-2A87E3AB6A66}" dt="2025-10-21T18:46:22.808" v="16" actId="20577"/>
          <ac:spMkLst>
            <pc:docMk/>
            <pc:sldMk cId="0" sldId="256"/>
            <ac:spMk id="35" creationId="{E1E0B6A2-EC1B-97B0-5867-67E6A7D6F471}"/>
          </ac:spMkLst>
        </pc:spChg>
      </pc:sldChg>
      <pc:sldChg chg="new del">
        <pc:chgData name="Prajjwal Dutta (Student)" userId="bf30f48b-0efb-4df2-989b-8993888db3d6" providerId="ADAL" clId="{2E51681D-03C2-4005-B0E5-2A87E3AB6A66}" dt="2025-10-21T18:47:36.079" v="20" actId="47"/>
        <pc:sldMkLst>
          <pc:docMk/>
          <pc:sldMk cId="4116664519" sldId="257"/>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507807" y="4155503"/>
            <a:ext cx="17088486" cy="2815018"/>
          </a:xfrm>
          <a:prstGeom prst="rect">
            <a:avLst/>
          </a:prstGeom>
        </p:spPr>
        <p:txBody>
          <a:bodyPr wrap="square" lIns="0" tIns="0" rIns="0" bIns="0">
            <a:spAutoFit/>
          </a:bodyPr>
          <a:lstStyle>
            <a:lvl1pPr>
              <a:defRPr sz="3300" b="1" i="0">
                <a:solidFill>
                  <a:schemeClr val="tx1"/>
                </a:solidFill>
                <a:latin typeface="Calibri"/>
                <a:cs typeface="Calibri"/>
              </a:defRPr>
            </a:lvl1pPr>
          </a:lstStyle>
          <a:p>
            <a:endParaRPr/>
          </a:p>
        </p:txBody>
      </p:sp>
      <p:sp>
        <p:nvSpPr>
          <p:cNvPr id="3" name="Holder 3"/>
          <p:cNvSpPr>
            <a:spLocks noGrp="1"/>
          </p:cNvSpPr>
          <p:nvPr>
            <p:ph type="subTitle" idx="4"/>
          </p:nvPr>
        </p:nvSpPr>
        <p:spPr>
          <a:xfrm>
            <a:off x="3015615" y="7506716"/>
            <a:ext cx="14072870" cy="3351212"/>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1"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1" i="0">
                <a:solidFill>
                  <a:schemeClr val="tx1"/>
                </a:solidFill>
                <a:latin typeface="Calibri"/>
                <a:cs typeface="Calibri"/>
              </a:defRPr>
            </a:lvl1pPr>
          </a:lstStyle>
          <a:p>
            <a:endParaRPr/>
          </a:p>
        </p:txBody>
      </p:sp>
      <p:sp>
        <p:nvSpPr>
          <p:cNvPr id="3" name="Holder 3"/>
          <p:cNvSpPr>
            <a:spLocks noGrp="1"/>
          </p:cNvSpPr>
          <p:nvPr>
            <p:ph sz="half" idx="2"/>
          </p:nvPr>
        </p:nvSpPr>
        <p:spPr>
          <a:xfrm>
            <a:off x="1005205" y="3083115"/>
            <a:ext cx="8745284" cy="884720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10353611" y="3083115"/>
            <a:ext cx="8745284" cy="884720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10/21/2025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1"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10/21/2025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10/21/2025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20104100" cy="13402732"/>
          </a:xfrm>
          <a:prstGeom prst="rect">
            <a:avLst/>
          </a:prstGeom>
        </p:spPr>
      </p:pic>
      <p:sp>
        <p:nvSpPr>
          <p:cNvPr id="2" name="Holder 2"/>
          <p:cNvSpPr>
            <a:spLocks noGrp="1"/>
          </p:cNvSpPr>
          <p:nvPr>
            <p:ph type="title"/>
          </p:nvPr>
        </p:nvSpPr>
        <p:spPr>
          <a:xfrm>
            <a:off x="4594731" y="182368"/>
            <a:ext cx="10914637" cy="528320"/>
          </a:xfrm>
          <a:prstGeom prst="rect">
            <a:avLst/>
          </a:prstGeom>
        </p:spPr>
        <p:txBody>
          <a:bodyPr wrap="square" lIns="0" tIns="0" rIns="0" bIns="0">
            <a:spAutoFit/>
          </a:bodyPr>
          <a:lstStyle>
            <a:lvl1pPr>
              <a:defRPr sz="3300" b="1" i="0">
                <a:solidFill>
                  <a:schemeClr val="tx1"/>
                </a:solidFill>
                <a:latin typeface="Calibri"/>
                <a:cs typeface="Calibri"/>
              </a:defRPr>
            </a:lvl1pPr>
          </a:lstStyle>
          <a:p>
            <a:endParaRPr/>
          </a:p>
        </p:txBody>
      </p:sp>
      <p:sp>
        <p:nvSpPr>
          <p:cNvPr id="3" name="Holder 3"/>
          <p:cNvSpPr>
            <a:spLocks noGrp="1"/>
          </p:cNvSpPr>
          <p:nvPr>
            <p:ph type="body" idx="1"/>
          </p:nvPr>
        </p:nvSpPr>
        <p:spPr>
          <a:xfrm>
            <a:off x="1005205" y="3083115"/>
            <a:ext cx="18093690" cy="8847201"/>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6835394" y="12466511"/>
            <a:ext cx="6433312" cy="67024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1005205" y="12466511"/>
            <a:ext cx="4623943" cy="67024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10/21/2025</a:t>
            </a:fld>
            <a:endParaRPr lang="en-US"/>
          </a:p>
        </p:txBody>
      </p:sp>
      <p:sp>
        <p:nvSpPr>
          <p:cNvPr id="6" name="Holder 6"/>
          <p:cNvSpPr>
            <a:spLocks noGrp="1"/>
          </p:cNvSpPr>
          <p:nvPr>
            <p:ph type="sldNum" sz="quarter" idx="7"/>
          </p:nvPr>
        </p:nvSpPr>
        <p:spPr>
          <a:xfrm>
            <a:off x="14474953" y="12466511"/>
            <a:ext cx="4623943" cy="67024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2298" y="182368"/>
            <a:ext cx="19509551" cy="473848"/>
          </a:xfrm>
          <a:prstGeom prst="rect">
            <a:avLst/>
          </a:prstGeom>
        </p:spPr>
        <p:txBody>
          <a:bodyPr vert="horz" wrap="square" lIns="0" tIns="12065" rIns="0" bIns="0" rtlCol="0">
            <a:spAutoFit/>
          </a:bodyPr>
          <a:lstStyle/>
          <a:p>
            <a:pPr algn="ctr"/>
            <a:r>
              <a:rPr lang="en-US" sz="3000" dirty="0"/>
              <a:t>Distributed Control Framework for Connectivity Preservation and Collective Reconfiguration in Flow-Driven Robot Fleets</a:t>
            </a:r>
            <a:endParaRPr sz="3000" spc="-10" dirty="0"/>
          </a:p>
        </p:txBody>
      </p:sp>
      <p:sp>
        <p:nvSpPr>
          <p:cNvPr id="3" name="object 3"/>
          <p:cNvSpPr txBox="1"/>
          <p:nvPr/>
        </p:nvSpPr>
        <p:spPr>
          <a:xfrm>
            <a:off x="6394450" y="803563"/>
            <a:ext cx="5965826" cy="1082989"/>
          </a:xfrm>
          <a:prstGeom prst="rect">
            <a:avLst/>
          </a:prstGeom>
        </p:spPr>
        <p:txBody>
          <a:bodyPr vert="horz" wrap="square" lIns="0" tIns="10795" rIns="0" bIns="0" rtlCol="0">
            <a:spAutoFit/>
          </a:bodyPr>
          <a:lstStyle/>
          <a:p>
            <a:pPr marL="12700" marR="5080" indent="635" algn="ctr">
              <a:lnSpc>
                <a:spcPct val="100200"/>
              </a:lnSpc>
              <a:spcBef>
                <a:spcPts val="85"/>
              </a:spcBef>
            </a:pPr>
            <a:r>
              <a:rPr lang="en-US" sz="2400" dirty="0">
                <a:latin typeface="Calibri"/>
                <a:cs typeface="Calibri"/>
              </a:rPr>
              <a:t>Prajjwal Dutta</a:t>
            </a:r>
            <a:r>
              <a:rPr lang="en-US" sz="2400" spc="-35" dirty="0">
                <a:latin typeface="Calibri"/>
                <a:cs typeface="Calibri"/>
              </a:rPr>
              <a:t> and </a:t>
            </a:r>
            <a:r>
              <a:rPr lang="en-US" sz="2400" dirty="0">
                <a:latin typeface="Calibri"/>
                <a:cs typeface="Calibri"/>
              </a:rPr>
              <a:t>Xi Yu</a:t>
            </a:r>
          </a:p>
          <a:p>
            <a:pPr marL="12700" marR="5080" indent="635" algn="ctr">
              <a:lnSpc>
                <a:spcPct val="100200"/>
              </a:lnSpc>
              <a:spcBef>
                <a:spcPts val="85"/>
              </a:spcBef>
            </a:pPr>
            <a:r>
              <a:rPr sz="2200" dirty="0">
                <a:latin typeface="Calibri"/>
                <a:cs typeface="Calibri"/>
              </a:rPr>
              <a:t>Ira</a:t>
            </a:r>
            <a:r>
              <a:rPr sz="2200" spc="-50" dirty="0">
                <a:latin typeface="Calibri"/>
                <a:cs typeface="Calibri"/>
              </a:rPr>
              <a:t> </a:t>
            </a:r>
            <a:r>
              <a:rPr sz="2200" dirty="0">
                <a:latin typeface="Calibri"/>
                <a:cs typeface="Calibri"/>
              </a:rPr>
              <a:t>A.</a:t>
            </a:r>
            <a:r>
              <a:rPr sz="2200" spc="-35" dirty="0">
                <a:latin typeface="Calibri"/>
                <a:cs typeface="Calibri"/>
              </a:rPr>
              <a:t> </a:t>
            </a:r>
            <a:r>
              <a:rPr sz="2200" dirty="0">
                <a:latin typeface="Calibri"/>
                <a:cs typeface="Calibri"/>
              </a:rPr>
              <a:t>Fulton</a:t>
            </a:r>
            <a:r>
              <a:rPr sz="2200" spc="-45" dirty="0">
                <a:latin typeface="Calibri"/>
                <a:cs typeface="Calibri"/>
              </a:rPr>
              <a:t> </a:t>
            </a:r>
            <a:r>
              <a:rPr sz="2200" dirty="0">
                <a:latin typeface="Calibri"/>
                <a:cs typeface="Calibri"/>
              </a:rPr>
              <a:t>Schools</a:t>
            </a:r>
            <a:r>
              <a:rPr sz="2200" spc="-40" dirty="0">
                <a:latin typeface="Calibri"/>
                <a:cs typeface="Calibri"/>
              </a:rPr>
              <a:t> </a:t>
            </a:r>
            <a:r>
              <a:rPr sz="2200" dirty="0">
                <a:latin typeface="Calibri"/>
                <a:cs typeface="Calibri"/>
              </a:rPr>
              <a:t>of</a:t>
            </a:r>
            <a:r>
              <a:rPr sz="2200" spc="-35" dirty="0">
                <a:latin typeface="Calibri"/>
                <a:cs typeface="Calibri"/>
              </a:rPr>
              <a:t> </a:t>
            </a:r>
            <a:r>
              <a:rPr sz="2200" spc="-10" dirty="0">
                <a:latin typeface="Calibri"/>
                <a:cs typeface="Calibri"/>
              </a:rPr>
              <a:t>Engineering</a:t>
            </a:r>
            <a:endParaRPr lang="en-US" sz="2200" spc="-10" dirty="0">
              <a:latin typeface="Calibri"/>
              <a:cs typeface="Calibri"/>
            </a:endParaRPr>
          </a:p>
          <a:p>
            <a:pPr marL="12700" marR="5080" indent="635" algn="ctr">
              <a:lnSpc>
                <a:spcPct val="100200"/>
              </a:lnSpc>
              <a:spcBef>
                <a:spcPts val="85"/>
              </a:spcBef>
            </a:pPr>
            <a:r>
              <a:rPr lang="en-US" sz="2200" dirty="0">
                <a:latin typeface="Calibri"/>
                <a:cs typeface="Calibri"/>
              </a:rPr>
              <a:t>School of Manufacturing Systems and Networks</a:t>
            </a:r>
            <a:endParaRPr sz="2200" dirty="0">
              <a:latin typeface="Calibri"/>
              <a:cs typeface="Calibri"/>
            </a:endParaRPr>
          </a:p>
        </p:txBody>
      </p:sp>
      <p:sp>
        <p:nvSpPr>
          <p:cNvPr id="4" name="object 4"/>
          <p:cNvSpPr txBox="1"/>
          <p:nvPr/>
        </p:nvSpPr>
        <p:spPr>
          <a:xfrm>
            <a:off x="351020" y="6840216"/>
            <a:ext cx="6201098" cy="544380"/>
          </a:xfrm>
          <a:prstGeom prst="rect">
            <a:avLst/>
          </a:prstGeom>
          <a:solidFill>
            <a:srgbClr val="FFC527"/>
          </a:solidFill>
        </p:spPr>
        <p:txBody>
          <a:bodyPr vert="horz" wrap="square" lIns="0" tIns="97155" rIns="0" bIns="0" rtlCol="0">
            <a:spAutoFit/>
          </a:bodyPr>
          <a:lstStyle/>
          <a:p>
            <a:pPr algn="ctr">
              <a:lnSpc>
                <a:spcPct val="100000"/>
              </a:lnSpc>
              <a:spcBef>
                <a:spcPts val="765"/>
              </a:spcBef>
            </a:pPr>
            <a:r>
              <a:rPr sz="2900" spc="-10" dirty="0">
                <a:latin typeface="Calibri"/>
                <a:cs typeface="Calibri"/>
              </a:rPr>
              <a:t>Goals</a:t>
            </a:r>
            <a:endParaRPr sz="2900" dirty="0">
              <a:latin typeface="Calibri"/>
              <a:cs typeface="Calibri"/>
            </a:endParaRPr>
          </a:p>
        </p:txBody>
      </p:sp>
      <p:sp>
        <p:nvSpPr>
          <p:cNvPr id="5" name="object 5"/>
          <p:cNvSpPr/>
          <p:nvPr/>
        </p:nvSpPr>
        <p:spPr>
          <a:xfrm>
            <a:off x="357005" y="7382303"/>
            <a:ext cx="6179820" cy="4244723"/>
          </a:xfrm>
          <a:custGeom>
            <a:avLst/>
            <a:gdLst/>
            <a:ahLst/>
            <a:cxnLst/>
            <a:rect l="l" t="t" r="r" b="b"/>
            <a:pathLst>
              <a:path w="6179820" h="2623184">
                <a:moveTo>
                  <a:pt x="0" y="2622840"/>
                </a:moveTo>
                <a:lnTo>
                  <a:pt x="6179218" y="2622840"/>
                </a:lnTo>
                <a:lnTo>
                  <a:pt x="6179218" y="0"/>
                </a:lnTo>
                <a:lnTo>
                  <a:pt x="0" y="0"/>
                </a:lnTo>
                <a:lnTo>
                  <a:pt x="0" y="2622840"/>
                </a:lnTo>
                <a:close/>
              </a:path>
            </a:pathLst>
          </a:custGeom>
          <a:ln w="30714">
            <a:solidFill>
              <a:srgbClr val="FFC527"/>
            </a:solidFill>
          </a:ln>
        </p:spPr>
        <p:txBody>
          <a:bodyPr wrap="square" lIns="0" tIns="0" rIns="0" bIns="0" rtlCol="0"/>
          <a:lstStyle/>
          <a:p>
            <a:endParaRPr/>
          </a:p>
        </p:txBody>
      </p:sp>
      <p:sp>
        <p:nvSpPr>
          <p:cNvPr id="7" name="object 7"/>
          <p:cNvSpPr txBox="1"/>
          <p:nvPr/>
        </p:nvSpPr>
        <p:spPr>
          <a:xfrm>
            <a:off x="13553048" y="9120374"/>
            <a:ext cx="6179820" cy="652780"/>
          </a:xfrm>
          <a:prstGeom prst="rect">
            <a:avLst/>
          </a:prstGeom>
          <a:solidFill>
            <a:srgbClr val="FFC527"/>
          </a:solidFill>
        </p:spPr>
        <p:txBody>
          <a:bodyPr vert="horz" wrap="square" lIns="0" tIns="83185" rIns="0" bIns="0" rtlCol="0">
            <a:spAutoFit/>
          </a:bodyPr>
          <a:lstStyle/>
          <a:p>
            <a:pPr algn="ctr">
              <a:lnSpc>
                <a:spcPct val="100000"/>
              </a:lnSpc>
              <a:spcBef>
                <a:spcPts val="655"/>
              </a:spcBef>
            </a:pPr>
            <a:r>
              <a:rPr sz="2900" dirty="0">
                <a:latin typeface="Calibri"/>
                <a:cs typeface="Calibri"/>
              </a:rPr>
              <a:t>Future</a:t>
            </a:r>
            <a:r>
              <a:rPr sz="2900" spc="-30" dirty="0">
                <a:latin typeface="Calibri"/>
                <a:cs typeface="Calibri"/>
              </a:rPr>
              <a:t> </a:t>
            </a:r>
            <a:r>
              <a:rPr sz="2900" spc="-20" dirty="0">
                <a:latin typeface="Calibri"/>
                <a:cs typeface="Calibri"/>
              </a:rPr>
              <a:t>Work</a:t>
            </a:r>
            <a:endParaRPr sz="2900">
              <a:latin typeface="Calibri"/>
              <a:cs typeface="Calibri"/>
            </a:endParaRPr>
          </a:p>
        </p:txBody>
      </p:sp>
      <p:sp>
        <p:nvSpPr>
          <p:cNvPr id="8" name="object 8"/>
          <p:cNvSpPr txBox="1"/>
          <p:nvPr/>
        </p:nvSpPr>
        <p:spPr>
          <a:xfrm>
            <a:off x="13659758" y="9877346"/>
            <a:ext cx="6040220" cy="1244571"/>
          </a:xfrm>
          <a:prstGeom prst="rect">
            <a:avLst/>
          </a:prstGeom>
        </p:spPr>
        <p:txBody>
          <a:bodyPr vert="horz" wrap="square" lIns="0" tIns="13335" rIns="0" bIns="0" rtlCol="0">
            <a:spAutoFit/>
          </a:bodyPr>
          <a:lstStyle/>
          <a:p>
            <a:pPr marL="285750" indent="-285750">
              <a:buFont typeface="Arial" panose="020B0604020202020204" pitchFamily="34" charset="0"/>
              <a:buChar char="•"/>
            </a:pPr>
            <a:r>
              <a:rPr lang="en-US" sz="2000" dirty="0">
                <a:latin typeface="fkGroteskNeue"/>
              </a:rPr>
              <a:t>Connectivity and safety are preserved </a:t>
            </a:r>
            <a:r>
              <a:rPr lang="en-US" sz="2000">
                <a:latin typeface="fkGroteskNeue"/>
              </a:rPr>
              <a:t>in flows</a:t>
            </a:r>
            <a:r>
              <a:rPr lang="en-US" sz="2000" dirty="0">
                <a:latin typeface="fkGroteskNeue"/>
              </a:rPr>
              <a:t>.</a:t>
            </a:r>
          </a:p>
          <a:p>
            <a:pPr marL="285750" indent="-285750">
              <a:buFont typeface="Arial" panose="020B0604020202020204" pitchFamily="34" charset="0"/>
              <a:buChar char="•"/>
            </a:pPr>
            <a:r>
              <a:rPr lang="en-US" sz="2000" dirty="0">
                <a:latin typeface="fkGroteskNeue"/>
              </a:rPr>
              <a:t>Distributed control yields robust, adaptive teams.</a:t>
            </a:r>
          </a:p>
          <a:p>
            <a:pPr marL="285750" indent="-285750">
              <a:buFont typeface="Arial" panose="020B0604020202020204" pitchFamily="34" charset="0"/>
              <a:buChar char="•"/>
            </a:pPr>
            <a:r>
              <a:rPr lang="en-US" sz="2000" dirty="0">
                <a:latin typeface="fkGroteskNeue"/>
              </a:rPr>
              <a:t>Advance realistic dynamics and experiments.</a:t>
            </a:r>
          </a:p>
          <a:p>
            <a:pPr marL="285750" indent="-285750">
              <a:buFont typeface="Arial" panose="020B0604020202020204" pitchFamily="34" charset="0"/>
              <a:buChar char="•"/>
            </a:pPr>
            <a:r>
              <a:rPr lang="en-US" sz="2000" dirty="0">
                <a:latin typeface="fkGroteskNeue"/>
              </a:rPr>
              <a:t>Explore new topologies for advanced tasks.</a:t>
            </a:r>
          </a:p>
        </p:txBody>
      </p:sp>
      <p:sp>
        <p:nvSpPr>
          <p:cNvPr id="9" name="object 9"/>
          <p:cNvSpPr/>
          <p:nvPr/>
        </p:nvSpPr>
        <p:spPr>
          <a:xfrm>
            <a:off x="13553048" y="9135731"/>
            <a:ext cx="6179820" cy="2481580"/>
          </a:xfrm>
          <a:custGeom>
            <a:avLst/>
            <a:gdLst/>
            <a:ahLst/>
            <a:cxnLst/>
            <a:rect l="l" t="t" r="r" b="b"/>
            <a:pathLst>
              <a:path w="6179819" h="2481579">
                <a:moveTo>
                  <a:pt x="0" y="2481367"/>
                </a:moveTo>
                <a:lnTo>
                  <a:pt x="6179218" y="2481367"/>
                </a:lnTo>
                <a:lnTo>
                  <a:pt x="6179218" y="0"/>
                </a:lnTo>
                <a:lnTo>
                  <a:pt x="0" y="0"/>
                </a:lnTo>
                <a:lnTo>
                  <a:pt x="0" y="2481367"/>
                </a:lnTo>
                <a:close/>
              </a:path>
            </a:pathLst>
          </a:custGeom>
          <a:ln w="30714">
            <a:solidFill>
              <a:srgbClr val="FFC527"/>
            </a:solidFill>
          </a:ln>
        </p:spPr>
        <p:txBody>
          <a:bodyPr wrap="square" lIns="0" tIns="0" rIns="0" bIns="0" rtlCol="0"/>
          <a:lstStyle/>
          <a:p>
            <a:endParaRPr/>
          </a:p>
        </p:txBody>
      </p:sp>
      <p:sp>
        <p:nvSpPr>
          <p:cNvPr id="17" name="object 17"/>
          <p:cNvSpPr txBox="1"/>
          <p:nvPr/>
        </p:nvSpPr>
        <p:spPr>
          <a:xfrm>
            <a:off x="6957321" y="2184459"/>
            <a:ext cx="6179820" cy="532197"/>
          </a:xfrm>
          <a:prstGeom prst="rect">
            <a:avLst/>
          </a:prstGeom>
          <a:solidFill>
            <a:srgbClr val="FFC527"/>
          </a:solidFill>
        </p:spPr>
        <p:txBody>
          <a:bodyPr vert="horz" wrap="square" lIns="0" tIns="85090" rIns="0" bIns="0" rtlCol="0">
            <a:spAutoFit/>
          </a:bodyPr>
          <a:lstStyle/>
          <a:p>
            <a:pPr algn="ctr">
              <a:lnSpc>
                <a:spcPct val="100000"/>
              </a:lnSpc>
              <a:spcBef>
                <a:spcPts val="670"/>
              </a:spcBef>
            </a:pPr>
            <a:r>
              <a:rPr lang="en-US" sz="2900" dirty="0">
                <a:latin typeface="Calibri"/>
                <a:cs typeface="Calibri"/>
              </a:rPr>
              <a:t>Methodology</a:t>
            </a:r>
            <a:endParaRPr sz="2900" dirty="0">
              <a:latin typeface="Calibri"/>
              <a:cs typeface="Calibri"/>
            </a:endParaRPr>
          </a:p>
        </p:txBody>
      </p:sp>
      <p:sp>
        <p:nvSpPr>
          <p:cNvPr id="18" name="object 18"/>
          <p:cNvSpPr/>
          <p:nvPr/>
        </p:nvSpPr>
        <p:spPr>
          <a:xfrm>
            <a:off x="6957786" y="2199817"/>
            <a:ext cx="6179820" cy="9427210"/>
          </a:xfrm>
          <a:custGeom>
            <a:avLst/>
            <a:gdLst/>
            <a:ahLst/>
            <a:cxnLst/>
            <a:rect l="l" t="t" r="r" b="b"/>
            <a:pathLst>
              <a:path w="6179819" h="9427210">
                <a:moveTo>
                  <a:pt x="0" y="9426588"/>
                </a:moveTo>
                <a:lnTo>
                  <a:pt x="6179218" y="9426588"/>
                </a:lnTo>
                <a:lnTo>
                  <a:pt x="6179218" y="0"/>
                </a:lnTo>
                <a:lnTo>
                  <a:pt x="0" y="0"/>
                </a:lnTo>
                <a:lnTo>
                  <a:pt x="0" y="9426588"/>
                </a:lnTo>
                <a:close/>
              </a:path>
            </a:pathLst>
          </a:custGeom>
          <a:ln w="30714">
            <a:solidFill>
              <a:srgbClr val="FFC527"/>
            </a:solidFill>
          </a:ln>
        </p:spPr>
        <p:txBody>
          <a:bodyPr wrap="square" lIns="0" tIns="0" rIns="0" bIns="0" rtlCol="0"/>
          <a:lstStyle/>
          <a:p>
            <a:endParaRPr/>
          </a:p>
        </p:txBody>
      </p:sp>
      <p:sp>
        <p:nvSpPr>
          <p:cNvPr id="26" name="object 26"/>
          <p:cNvSpPr txBox="1"/>
          <p:nvPr/>
        </p:nvSpPr>
        <p:spPr>
          <a:xfrm>
            <a:off x="372298" y="2205589"/>
            <a:ext cx="6201098" cy="545021"/>
          </a:xfrm>
          <a:prstGeom prst="rect">
            <a:avLst/>
          </a:prstGeom>
          <a:solidFill>
            <a:srgbClr val="FFC527"/>
          </a:solidFill>
        </p:spPr>
        <p:txBody>
          <a:bodyPr vert="horz" wrap="square" lIns="0" tIns="97790" rIns="0" bIns="0" rtlCol="0">
            <a:spAutoFit/>
          </a:bodyPr>
          <a:lstStyle/>
          <a:p>
            <a:pPr algn="ctr">
              <a:lnSpc>
                <a:spcPct val="100000"/>
              </a:lnSpc>
              <a:spcBef>
                <a:spcPts val="770"/>
              </a:spcBef>
            </a:pPr>
            <a:r>
              <a:rPr sz="2900" spc="-10" dirty="0">
                <a:latin typeface="Calibri"/>
                <a:cs typeface="Calibri"/>
              </a:rPr>
              <a:t>Problem</a:t>
            </a:r>
            <a:endParaRPr sz="2900" dirty="0">
              <a:latin typeface="Calibri"/>
              <a:cs typeface="Calibri"/>
            </a:endParaRPr>
          </a:p>
        </p:txBody>
      </p:sp>
      <p:sp>
        <p:nvSpPr>
          <p:cNvPr id="28" name="object 28"/>
          <p:cNvSpPr/>
          <p:nvPr/>
        </p:nvSpPr>
        <p:spPr>
          <a:xfrm>
            <a:off x="372298" y="2740025"/>
            <a:ext cx="6179820" cy="3851215"/>
          </a:xfrm>
          <a:custGeom>
            <a:avLst/>
            <a:gdLst/>
            <a:ahLst/>
            <a:cxnLst/>
            <a:rect l="l" t="t" r="r" b="b"/>
            <a:pathLst>
              <a:path w="6179820" h="3228340">
                <a:moveTo>
                  <a:pt x="0" y="3227824"/>
                </a:moveTo>
                <a:lnTo>
                  <a:pt x="6179218" y="3227824"/>
                </a:lnTo>
                <a:lnTo>
                  <a:pt x="6179218" y="0"/>
                </a:lnTo>
                <a:lnTo>
                  <a:pt x="0" y="0"/>
                </a:lnTo>
                <a:lnTo>
                  <a:pt x="0" y="3227824"/>
                </a:lnTo>
                <a:close/>
              </a:path>
            </a:pathLst>
          </a:custGeom>
          <a:ln w="30714">
            <a:solidFill>
              <a:srgbClr val="FFC527"/>
            </a:solidFill>
          </a:ln>
        </p:spPr>
        <p:txBody>
          <a:bodyPr wrap="square" lIns="0" tIns="0" rIns="0" bIns="0" rtlCol="0"/>
          <a:lstStyle/>
          <a:p>
            <a:endParaRPr/>
          </a:p>
        </p:txBody>
      </p:sp>
      <p:sp>
        <p:nvSpPr>
          <p:cNvPr id="31" name="Rectangle 3">
            <a:extLst>
              <a:ext uri="{FF2B5EF4-FFF2-40B4-BE49-F238E27FC236}">
                <a16:creationId xmlns:a16="http://schemas.microsoft.com/office/drawing/2014/main" id="{C2EB1775-F1B0-013A-45E2-F538F5C6DAD2}"/>
              </a:ext>
            </a:extLst>
          </p:cNvPr>
          <p:cNvSpPr>
            <a:spLocks noChangeArrowheads="1"/>
          </p:cNvSpPr>
          <p:nvPr/>
        </p:nvSpPr>
        <p:spPr bwMode="auto">
          <a:xfrm>
            <a:off x="435872" y="2816225"/>
            <a:ext cx="5958577"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dirty="0">
                <a:latin typeface="Arial" panose="020B0604020202020204" pitchFamily="34" charset="0"/>
                <a:cs typeface="Arial" panose="020B0604020202020204" pitchFamily="34" charset="0"/>
              </a:rPr>
              <a:t>Underwater robots drift in dynamic flows and face dispersion that helps exploration but threatens network connectivity. Locations of interest are found only when sensed, requiring the team to maintain connectivity and </a:t>
            </a:r>
            <a:r>
              <a:rPr lang="en-US" dirty="0" err="1">
                <a:latin typeface="Arial" panose="020B0604020202020204" pitchFamily="34" charset="0"/>
                <a:cs typeface="Arial" panose="020B0604020202020204" pitchFamily="34" charset="0"/>
              </a:rPr>
              <a:t>sparstfy</a:t>
            </a:r>
            <a:r>
              <a:rPr lang="en-US" dirty="0">
                <a:latin typeface="Arial" panose="020B0604020202020204" pitchFamily="34" charset="0"/>
                <a:cs typeface="Arial" panose="020B0604020202020204" pitchFamily="34" charset="0"/>
              </a:rPr>
              <a:t> their communication graph while drifting. When a target is detected, some agents seek the goal and others relay to keep the fleet connected, all relying only on local state and neighbor exchanges. The challenge is to develop a fully distributed control method that preserves connectivity, leverages flow for energy efficiency, and enables coordinated reconfiguration when new targets appear, without any centralized coordination or global maps.</a:t>
            </a:r>
            <a:endPar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
        <p:nvSpPr>
          <p:cNvPr id="32" name="Rectangle 4">
            <a:extLst>
              <a:ext uri="{FF2B5EF4-FFF2-40B4-BE49-F238E27FC236}">
                <a16:creationId xmlns:a16="http://schemas.microsoft.com/office/drawing/2014/main" id="{A171D2AD-9951-F87A-EBA8-CB81391F9669}"/>
              </a:ext>
            </a:extLst>
          </p:cNvPr>
          <p:cNvSpPr>
            <a:spLocks noChangeArrowheads="1"/>
          </p:cNvSpPr>
          <p:nvPr/>
        </p:nvSpPr>
        <p:spPr bwMode="auto">
          <a:xfrm>
            <a:off x="404123" y="7515145"/>
            <a:ext cx="6100952"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dirty="0"/>
              <a:t>This study proposes a distributed control approach for underwater robot fleets that must explore dynamic environments, detect new targets, and maintain a connected network with only local information. The main aims include: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Preserve network connectivity throughout exploration and target pursuit.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Minimize control effort use by leveraging flow and activating controls only when needed.</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Enable robots to reconfigure for coverage and rapid response to new targets.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Operate using only local and neighbor information, with no centralized control.</a:t>
            </a:r>
          </a:p>
        </p:txBody>
      </p:sp>
      <mc:AlternateContent xmlns:mc="http://schemas.openxmlformats.org/markup-compatibility/2006">
        <mc:Choice xmlns:a14="http://schemas.microsoft.com/office/drawing/2010/main" Requires="a14">
          <p:sp>
            <p:nvSpPr>
              <p:cNvPr id="35" name="TextBox 34">
                <a:extLst>
                  <a:ext uri="{FF2B5EF4-FFF2-40B4-BE49-F238E27FC236}">
                    <a16:creationId xmlns:a16="http://schemas.microsoft.com/office/drawing/2014/main" id="{E1E0B6A2-EC1B-97B0-5867-67E6A7D6F471}"/>
                  </a:ext>
                </a:extLst>
              </p:cNvPr>
              <p:cNvSpPr txBox="1"/>
              <p:nvPr/>
            </p:nvSpPr>
            <p:spPr>
              <a:xfrm>
                <a:off x="6969077" y="2750610"/>
                <a:ext cx="6168064" cy="3750707"/>
              </a:xfrm>
              <a:prstGeom prst="rect">
                <a:avLst/>
              </a:prstGeom>
              <a:noFill/>
            </p:spPr>
            <p:txBody>
              <a:bodyPr wrap="square">
                <a:spAutoFit/>
              </a:bodyPr>
              <a:lstStyle/>
              <a:p>
                <a:pPr algn="just">
                  <a:buNone/>
                </a:pPr>
                <a:r>
                  <a:rPr lang="en-US" b="1" i="0" dirty="0">
                    <a:effectLst/>
                    <a:latin typeface="fkGroteskNeue"/>
                  </a:rPr>
                  <a:t>Edge Detection, Pruning, and Rewiring:</a:t>
                </a:r>
              </a:p>
              <a:p>
                <a:pPr algn="just">
                  <a:buNone/>
                </a:pPr>
                <a:r>
                  <a:rPr lang="en-US" b="0" i="0" dirty="0">
                    <a:effectLst/>
                    <a:latin typeface="fkGroteskNeue"/>
                  </a:rPr>
                  <a:t>Each robot examines its local graph structure and prunes edges </a:t>
                </a:r>
                <a14:m>
                  <m:oMath xmlns:m="http://schemas.openxmlformats.org/officeDocument/2006/math">
                    <m:d>
                      <m:dPr>
                        <m:sepChr m:val=","/>
                        <m:ctrlPr>
                          <a:rPr lang="ar-AE" i="1">
                            <a:latin typeface="Cambria Math" panose="02040503050406030204" pitchFamily="18" charset="0"/>
                          </a:rPr>
                        </m:ctrlPr>
                      </m:dPr>
                      <m:e>
                        <m:r>
                          <a:rPr lang="ar-AE" i="1">
                            <a:latin typeface="Cambria Math" panose="02040503050406030204" pitchFamily="18" charset="0"/>
                          </a:rPr>
                          <m:t>𝑖</m:t>
                        </m:r>
                      </m:e>
                      <m:e>
                        <m:r>
                          <a:rPr lang="ar-AE" i="1">
                            <a:latin typeface="Cambria Math" panose="02040503050406030204" pitchFamily="18" charset="0"/>
                          </a:rPr>
                          <m:t>𝑗</m:t>
                        </m:r>
                      </m:e>
                    </m:d>
                  </m:oMath>
                </a14:m>
                <a:r>
                  <a:rPr lang="ar-AE" b="0" i="0" dirty="0">
                    <a:effectLst/>
                    <a:latin typeface="fkGroteskNeue"/>
                  </a:rPr>
                  <a:t> </a:t>
                </a:r>
                <a:r>
                  <a:rPr lang="en-US" b="0" i="0" dirty="0">
                    <a:effectLst/>
                    <a:latin typeface="fkGroteskNeue"/>
                  </a:rPr>
                  <a:t>if their removal keeps the network connected, i.e., the graph remains a spanning tree. The minimum spanning structure can be characterized using local connectivity checks and weights:</a:t>
                </a:r>
              </a:p>
              <a:p>
                <a:pPr algn="just">
                  <a:buNone/>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𝐺</m:t>
                          </m:r>
                        </m:e>
                        <m:sub>
                          <m:r>
                            <a:rPr lang="ar-AE" i="1">
                              <a:latin typeface="Cambria Math" panose="02040503050406030204" pitchFamily="18" charset="0"/>
                            </a:rPr>
                            <m:t>𝑡</m:t>
                          </m:r>
                        </m:sub>
                      </m:sSub>
                      <m:r>
                        <a:rPr lang="ar-AE" i="0">
                          <a:latin typeface="Cambria Math" panose="02040503050406030204" pitchFamily="18" charset="0"/>
                        </a:rPr>
                        <m:t>=</m:t>
                      </m:r>
                      <m:d>
                        <m:dPr>
                          <m:sepChr m:val=","/>
                          <m:ctrlPr>
                            <a:rPr lang="ar-AE" i="1">
                              <a:latin typeface="Cambria Math" panose="02040503050406030204" pitchFamily="18" charset="0"/>
                            </a:rPr>
                          </m:ctrlPr>
                        </m:dPr>
                        <m:e>
                          <m:r>
                            <a:rPr lang="ar-AE" i="1">
                              <a:latin typeface="Cambria Math" panose="02040503050406030204" pitchFamily="18" charset="0"/>
                            </a:rPr>
                            <m:t>𝑉</m:t>
                          </m:r>
                        </m:e>
                        <m:e>
                          <m:sSub>
                            <m:sSubPr>
                              <m:ctrlPr>
                                <a:rPr lang="ar-AE" i="1">
                                  <a:latin typeface="Cambria Math" panose="02040503050406030204" pitchFamily="18" charset="0"/>
                                </a:rPr>
                              </m:ctrlPr>
                            </m:sSubPr>
                            <m:e>
                              <m:r>
                                <a:rPr lang="ar-AE" i="1">
                                  <a:latin typeface="Cambria Math" panose="02040503050406030204" pitchFamily="18" charset="0"/>
                                </a:rPr>
                                <m:t>𝐸</m:t>
                              </m:r>
                            </m:e>
                            <m:sub>
                              <m:r>
                                <a:rPr lang="ar-AE" i="1">
                                  <a:latin typeface="Cambria Math" panose="02040503050406030204" pitchFamily="18" charset="0"/>
                                </a:rPr>
                                <m:t>𝑡</m:t>
                              </m:r>
                            </m:sub>
                          </m:sSub>
                        </m:e>
                      </m:d>
                      <m:r>
                        <a:rPr lang="ar-AE" i="0">
                          <a:latin typeface="Cambria Math" panose="02040503050406030204" pitchFamily="18" charset="0"/>
                        </a:rPr>
                        <m:t>, </m:t>
                      </m:r>
                      <m:sSub>
                        <m:sSubPr>
                          <m:ctrlPr>
                            <a:rPr lang="ar-AE" i="1">
                              <a:latin typeface="Cambria Math" panose="02040503050406030204" pitchFamily="18" charset="0"/>
                            </a:rPr>
                          </m:ctrlPr>
                        </m:sSubPr>
                        <m:e>
                          <m:r>
                            <a:rPr lang="ar-AE" i="1">
                              <a:latin typeface="Cambria Math" panose="02040503050406030204" pitchFamily="18" charset="0"/>
                            </a:rPr>
                            <m:t>𝐸</m:t>
                          </m:r>
                        </m:e>
                        <m:sub>
                          <m:r>
                            <a:rPr lang="ar-AE" i="1">
                              <a:latin typeface="Cambria Math" panose="02040503050406030204" pitchFamily="18" charset="0"/>
                            </a:rPr>
                            <m:t>𝑡</m:t>
                          </m:r>
                        </m:sub>
                      </m:sSub>
                      <m:r>
                        <a:rPr lang="ar-AE" i="0">
                          <a:latin typeface="Cambria Math" panose="02040503050406030204" pitchFamily="18" charset="0"/>
                        </a:rPr>
                        <m:t>=</m:t>
                      </m:r>
                      <m:d>
                        <m:dPr>
                          <m:begChr m:val="{"/>
                          <m:endChr m:val="}"/>
                          <m:ctrlPr>
                            <a:rPr lang="ar-AE" i="1">
                              <a:latin typeface="Cambria Math" panose="02040503050406030204" pitchFamily="18" charset="0"/>
                            </a:rPr>
                          </m:ctrlPr>
                        </m:dPr>
                        <m:e>
                          <m:d>
                            <m:dPr>
                              <m:sepChr m:val=","/>
                              <m:ctrlPr>
                                <a:rPr lang="ar-AE" i="1">
                                  <a:latin typeface="Cambria Math" panose="02040503050406030204" pitchFamily="18" charset="0"/>
                                </a:rPr>
                              </m:ctrlPr>
                            </m:dPr>
                            <m:e>
                              <m:r>
                                <a:rPr lang="ar-AE" i="1">
                                  <a:latin typeface="Cambria Math" panose="02040503050406030204" pitchFamily="18" charset="0"/>
                                </a:rPr>
                                <m:t>𝑖</m:t>
                              </m:r>
                            </m:e>
                            <m:e>
                              <m:r>
                                <a:rPr lang="ar-AE" i="1">
                                  <a:latin typeface="Cambria Math" panose="02040503050406030204" pitchFamily="18" charset="0"/>
                                </a:rPr>
                                <m:t>𝑗</m:t>
                              </m:r>
                            </m:e>
                          </m:d>
                          <m:r>
                            <a:rPr lang="ar-AE" i="0">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𝑤</m:t>
                              </m:r>
                            </m:e>
                            <m:sub>
                              <m:r>
                                <a:rPr lang="ar-AE" i="1">
                                  <a:latin typeface="Cambria Math" panose="02040503050406030204" pitchFamily="18" charset="0"/>
                                </a:rPr>
                                <m:t>𝑖𝑗</m:t>
                              </m:r>
                            </m:sub>
                          </m:sSub>
                          <m:r>
                            <a:rPr lang="ar-AE" i="0">
                              <a:latin typeface="Cambria Math" panose="02040503050406030204" pitchFamily="18" charset="0"/>
                            </a:rPr>
                            <m:t>&lt;</m:t>
                          </m:r>
                          <m:r>
                            <m:rPr>
                              <m:nor/>
                            </m:rPr>
                            <a:rPr lang="en-US" b="0" i="1">
                              <a:latin typeface="Cambria Math" panose="02040503050406030204" pitchFamily="18" charset="0"/>
                            </a:rPr>
                            <m:t>threshold</m:t>
                          </m:r>
                        </m:e>
                      </m:d>
                    </m:oMath>
                  </m:oMathPara>
                </a14:m>
                <a:endParaRPr lang="ar-AE" b="0" dirty="0"/>
              </a:p>
              <a:p>
                <a:pPr algn="just">
                  <a:buNone/>
                </a:pPr>
                <a:r>
                  <a:rPr lang="en-US" dirty="0">
                    <a:latin typeface="fkGroteskNeue"/>
                  </a:rPr>
                  <a:t>w</a:t>
                </a:r>
                <a:r>
                  <a:rPr lang="en-US" b="0" i="0" dirty="0">
                    <a:effectLst/>
                    <a:latin typeface="fkGroteskNeue"/>
                  </a:rPr>
                  <a:t>here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𝑤</m:t>
                        </m:r>
                      </m:e>
                      <m:sub>
                        <m:r>
                          <a:rPr lang="ar-AE" i="1">
                            <a:latin typeface="Cambria Math" panose="02040503050406030204" pitchFamily="18" charset="0"/>
                          </a:rPr>
                          <m:t>𝑖𝑗</m:t>
                        </m:r>
                      </m:sub>
                    </m:sSub>
                  </m:oMath>
                </a14:m>
                <a:r>
                  <a:rPr lang="ar-AE" b="0" i="0" dirty="0">
                    <a:effectLst/>
                    <a:latin typeface="fkGroteskNeue"/>
                  </a:rPr>
                  <a:t> </a:t>
                </a:r>
                <a:r>
                  <a:rPr lang="en-US" b="0" i="0" dirty="0">
                    <a:effectLst/>
                    <a:latin typeface="fkGroteskNeue"/>
                  </a:rPr>
                  <a:t>is the edge weight between robot </a:t>
                </a:r>
                <a14:m>
                  <m:oMath xmlns:m="http://schemas.openxmlformats.org/officeDocument/2006/math">
                    <m:r>
                      <a:rPr lang="en-US" i="1">
                        <a:latin typeface="Cambria Math" panose="02040503050406030204" pitchFamily="18" charset="0"/>
                      </a:rPr>
                      <m:t>𝑖</m:t>
                    </m:r>
                  </m:oMath>
                </a14:m>
                <a:r>
                  <a:rPr lang="en-US" b="0" i="0" dirty="0">
                    <a:effectLst/>
                    <a:latin typeface="fkGroteskNeue"/>
                  </a:rPr>
                  <a:t> and </a:t>
                </a:r>
                <a14:m>
                  <m:oMath xmlns:m="http://schemas.openxmlformats.org/officeDocument/2006/math">
                    <m:r>
                      <a:rPr lang="en-US" i="1">
                        <a:latin typeface="Cambria Math" panose="02040503050406030204" pitchFamily="18" charset="0"/>
                      </a:rPr>
                      <m:t>𝑗</m:t>
                    </m:r>
                  </m:oMath>
                </a14:m>
                <a:r>
                  <a:rPr lang="en-US" b="0" i="0" dirty="0">
                    <a:effectLst/>
                    <a:latin typeface="fkGroteskNeue"/>
                  </a:rPr>
                  <a:t>, and pruning ensures:</a:t>
                </a:r>
              </a:p>
              <a:p>
                <a:pPr algn="just">
                  <a:buNone/>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𝐺</m:t>
                          </m:r>
                        </m:e>
                        <m:sub>
                          <m:r>
                            <a:rPr lang="ar-AE" i="1">
                              <a:latin typeface="Cambria Math" panose="02040503050406030204" pitchFamily="18" charset="0"/>
                            </a:rPr>
                            <m:t>𝑡</m:t>
                          </m:r>
                          <m:r>
                            <a:rPr lang="ar-AE" i="0">
                              <a:latin typeface="Cambria Math" panose="02040503050406030204" pitchFamily="18" charset="0"/>
                            </a:rPr>
                            <m:t>+</m:t>
                          </m:r>
                          <m:r>
                            <a:rPr lang="ar-AE" i="0">
                              <a:latin typeface="Cambria Math" panose="02040503050406030204" pitchFamily="18" charset="0"/>
                            </a:rPr>
                            <m:t>1</m:t>
                          </m:r>
                        </m:sub>
                      </m:sSub>
                      <m:r>
                        <m:rPr>
                          <m:nor/>
                        </m:rPr>
                        <a:rPr lang="ar-AE" b="0" i="1">
                          <a:latin typeface="Cambria Math" panose="02040503050406030204" pitchFamily="18" charset="0"/>
                        </a:rPr>
                        <m:t> </m:t>
                      </m:r>
                      <m:r>
                        <m:rPr>
                          <m:nor/>
                        </m:rPr>
                        <a:rPr lang="en-US" b="0" i="1">
                          <a:latin typeface="Cambria Math" panose="02040503050406030204" pitchFamily="18" charset="0"/>
                        </a:rPr>
                        <m:t>is</m:t>
                      </m:r>
                      <m:r>
                        <m:rPr>
                          <m:nor/>
                        </m:rPr>
                        <a:rPr lang="en-US" b="0" i="1">
                          <a:latin typeface="Cambria Math" panose="02040503050406030204" pitchFamily="18" charset="0"/>
                        </a:rPr>
                        <m:t> </m:t>
                      </m:r>
                      <m:r>
                        <m:rPr>
                          <m:nor/>
                        </m:rPr>
                        <a:rPr lang="en-US" b="0" i="1">
                          <a:latin typeface="Cambria Math" panose="02040503050406030204" pitchFamily="18" charset="0"/>
                        </a:rPr>
                        <m:t>connected</m:t>
                      </m:r>
                      <m:r>
                        <m:rPr>
                          <m:nor/>
                        </m:rPr>
                        <a:rPr lang="en-US" b="0" i="1">
                          <a:latin typeface="Cambria Math" panose="02040503050406030204" pitchFamily="18" charset="0"/>
                        </a:rPr>
                        <m:t> </m:t>
                      </m:r>
                      <m:r>
                        <m:rPr>
                          <m:nor/>
                        </m:rPr>
                        <a:rPr lang="en-US" b="0" i="1">
                          <a:latin typeface="Cambria Math" panose="02040503050406030204" pitchFamily="18" charset="0"/>
                        </a:rPr>
                        <m:t>if</m:t>
                      </m:r>
                      <m:r>
                        <m:rPr>
                          <m:nor/>
                        </m:rPr>
                        <a:rPr lang="en-US" b="0" i="1">
                          <a:latin typeface="Cambria Math" panose="02040503050406030204" pitchFamily="18" charset="0"/>
                        </a:rPr>
                        <m:t> </m:t>
                      </m:r>
                      <m:sSub>
                        <m:sSubPr>
                          <m:ctrlPr>
                            <a:rPr lang="ar-AE" b="0" i="1">
                              <a:latin typeface="Cambria Math" panose="02040503050406030204" pitchFamily="18" charset="0"/>
                            </a:rPr>
                          </m:ctrlPr>
                        </m:sSubPr>
                        <m:e>
                          <m:r>
                            <a:rPr lang="ar-AE" b="0" i="1">
                              <a:latin typeface="Cambria Math" panose="02040503050406030204" pitchFamily="18" charset="0"/>
                            </a:rPr>
                            <m:t>𝐺</m:t>
                          </m:r>
                        </m:e>
                        <m:sub>
                          <m:r>
                            <a:rPr lang="ar-AE" b="0" i="1">
                              <a:latin typeface="Cambria Math" panose="02040503050406030204" pitchFamily="18" charset="0"/>
                            </a:rPr>
                            <m:t>𝑡</m:t>
                          </m:r>
                        </m:sub>
                      </m:sSub>
                      <m:r>
                        <m:rPr>
                          <m:nor/>
                        </m:rPr>
                        <a:rPr lang="ar-AE" b="0" i="1">
                          <a:latin typeface="Cambria Math" panose="02040503050406030204" pitchFamily="18" charset="0"/>
                        </a:rPr>
                        <m:t> </m:t>
                      </m:r>
                      <m:r>
                        <m:rPr>
                          <m:nor/>
                        </m:rPr>
                        <a:rPr lang="en-US" b="0" i="1">
                          <a:latin typeface="Cambria Math" panose="02040503050406030204" pitchFamily="18" charset="0"/>
                        </a:rPr>
                        <m:t>was</m:t>
                      </m:r>
                      <m:r>
                        <m:rPr>
                          <m:nor/>
                        </m:rPr>
                        <a:rPr lang="en-US" b="0" i="1">
                          <a:latin typeface="Cambria Math" panose="02040503050406030204" pitchFamily="18" charset="0"/>
                        </a:rPr>
                        <m:t> </m:t>
                      </m:r>
                      <m:r>
                        <m:rPr>
                          <m:nor/>
                        </m:rPr>
                        <a:rPr lang="en-US" b="0" i="1">
                          <a:latin typeface="Cambria Math" panose="02040503050406030204" pitchFamily="18" charset="0"/>
                        </a:rPr>
                        <m:t>connected</m:t>
                      </m:r>
                      <m:r>
                        <m:rPr>
                          <m:nor/>
                        </m:rPr>
                        <a:rPr lang="en-US" b="0" i="1">
                          <a:latin typeface="Cambria Math" panose="02040503050406030204" pitchFamily="18" charset="0"/>
                        </a:rPr>
                        <m:t> </m:t>
                      </m:r>
                      <m:r>
                        <m:rPr>
                          <m:nor/>
                        </m:rPr>
                        <a:rPr lang="en-US" b="0" i="1">
                          <a:latin typeface="Cambria Math" panose="02040503050406030204" pitchFamily="18" charset="0"/>
                        </a:rPr>
                        <m:t>and</m:t>
                      </m:r>
                      <m:r>
                        <m:rPr>
                          <m:nor/>
                        </m:rPr>
                        <a:rPr lang="en-US" b="0" i="1">
                          <a:latin typeface="Cambria Math" panose="02040503050406030204" pitchFamily="18" charset="0"/>
                        </a:rPr>
                        <m:t> </m:t>
                      </m:r>
                      <m:r>
                        <m:rPr>
                          <m:nor/>
                        </m:rPr>
                        <a:rPr lang="en-US" b="0" i="1">
                          <a:latin typeface="Cambria Math" panose="02040503050406030204" pitchFamily="18" charset="0"/>
                        </a:rPr>
                        <m:t>edge</m:t>
                      </m:r>
                      <m:r>
                        <m:rPr>
                          <m:nor/>
                        </m:rPr>
                        <a:rPr lang="en-US" b="0" i="1">
                          <a:latin typeface="Cambria Math" panose="02040503050406030204" pitchFamily="18" charset="0"/>
                        </a:rPr>
                        <m:t> </m:t>
                      </m:r>
                      <m:d>
                        <m:dPr>
                          <m:sepChr m:val=","/>
                          <m:ctrlPr>
                            <a:rPr lang="ar-AE" b="0" i="1">
                              <a:latin typeface="Cambria Math" panose="02040503050406030204" pitchFamily="18" charset="0"/>
                            </a:rPr>
                          </m:ctrlPr>
                        </m:dPr>
                        <m:e>
                          <m:r>
                            <a:rPr lang="ar-AE" b="0" i="1">
                              <a:latin typeface="Cambria Math" panose="02040503050406030204" pitchFamily="18" charset="0"/>
                            </a:rPr>
                            <m:t>𝑖</m:t>
                          </m:r>
                        </m:e>
                        <m:e>
                          <m:r>
                            <a:rPr lang="ar-AE" b="0" i="1">
                              <a:latin typeface="Cambria Math" panose="02040503050406030204" pitchFamily="18" charset="0"/>
                            </a:rPr>
                            <m:t>𝑗</m:t>
                          </m:r>
                        </m:e>
                      </m:d>
                      <m:r>
                        <m:rPr>
                          <m:nor/>
                        </m:rPr>
                        <a:rPr lang="ar-AE" b="0" i="1">
                          <a:latin typeface="Cambria Math" panose="02040503050406030204" pitchFamily="18" charset="0"/>
                        </a:rPr>
                        <m:t> </m:t>
                      </m:r>
                      <m:r>
                        <m:rPr>
                          <m:nor/>
                        </m:rPr>
                        <a:rPr lang="en-US" b="0" i="1">
                          <a:latin typeface="Cambria Math" panose="02040503050406030204" pitchFamily="18" charset="0"/>
                        </a:rPr>
                        <m:t>removed</m:t>
                      </m:r>
                      <m:r>
                        <m:rPr>
                          <m:nor/>
                        </m:rPr>
                        <a:rPr lang="en-US" b="0" i="1">
                          <a:latin typeface="Cambria Math" panose="02040503050406030204" pitchFamily="18" charset="0"/>
                        </a:rPr>
                        <m:t> </m:t>
                      </m:r>
                      <m:r>
                        <m:rPr>
                          <m:nor/>
                        </m:rPr>
                        <a:rPr lang="en-US" b="0" i="1">
                          <a:latin typeface="Cambria Math" panose="02040503050406030204" pitchFamily="18" charset="0"/>
                        </a:rPr>
                        <m:t>is</m:t>
                      </m:r>
                      <m:r>
                        <m:rPr>
                          <m:nor/>
                        </m:rPr>
                        <a:rPr lang="en-US" b="0" i="1">
                          <a:latin typeface="Cambria Math" panose="02040503050406030204" pitchFamily="18" charset="0"/>
                        </a:rPr>
                        <m:t> </m:t>
                      </m:r>
                      <m:r>
                        <m:rPr>
                          <m:nor/>
                        </m:rPr>
                        <a:rPr lang="en-US" b="0" i="1">
                          <a:latin typeface="Cambria Math" panose="02040503050406030204" pitchFamily="18" charset="0"/>
                        </a:rPr>
                        <m:t>non</m:t>
                      </m:r>
                      <m:r>
                        <m:rPr>
                          <m:nor/>
                        </m:rPr>
                        <a:rPr lang="en-US" b="0" i="1">
                          <a:latin typeface="Cambria Math" panose="02040503050406030204" pitchFamily="18" charset="0"/>
                        </a:rPr>
                        <m:t>−</m:t>
                      </m:r>
                      <m:r>
                        <m:rPr>
                          <m:nor/>
                        </m:rPr>
                        <a:rPr lang="en-US" b="0" i="1">
                          <a:latin typeface="Cambria Math" panose="02040503050406030204" pitchFamily="18" charset="0"/>
                        </a:rPr>
                        <m:t>critical</m:t>
                      </m:r>
                    </m:oMath>
                  </m:oMathPara>
                </a14:m>
                <a:endParaRPr lang="en-US" b="0" dirty="0"/>
              </a:p>
              <a:p>
                <a:pPr algn="just">
                  <a:buNone/>
                </a:pPr>
                <a:r>
                  <a:rPr lang="en-US" b="0" i="0" dirty="0">
                    <a:effectLst/>
                    <a:latin typeface="fkGroteskNeue"/>
                  </a:rPr>
                  <a:t>Rewiring activates when new connectivity must be established, restoring crucial links to maintain spanning properties.</a:t>
                </a:r>
              </a:p>
            </p:txBody>
          </p:sp>
        </mc:Choice>
        <mc:Fallback>
          <p:sp>
            <p:nvSpPr>
              <p:cNvPr id="35" name="TextBox 34">
                <a:extLst>
                  <a:ext uri="{FF2B5EF4-FFF2-40B4-BE49-F238E27FC236}">
                    <a16:creationId xmlns:a16="http://schemas.microsoft.com/office/drawing/2014/main" id="{E1E0B6A2-EC1B-97B0-5867-67E6A7D6F471}"/>
                  </a:ext>
                </a:extLst>
              </p:cNvPr>
              <p:cNvSpPr txBox="1">
                <a:spLocks noRot="1" noChangeAspect="1" noMove="1" noResize="1" noEditPoints="1" noAdjustHandles="1" noChangeArrowheads="1" noChangeShapeType="1" noTextEdit="1"/>
              </p:cNvSpPr>
              <p:nvPr/>
            </p:nvSpPr>
            <p:spPr>
              <a:xfrm>
                <a:off x="6969077" y="2750610"/>
                <a:ext cx="6168064" cy="3750707"/>
              </a:xfrm>
              <a:prstGeom prst="rect">
                <a:avLst/>
              </a:prstGeom>
              <a:blipFill>
                <a:blip r:embed="rId2"/>
                <a:stretch>
                  <a:fillRect l="-791" t="-813" r="-889" b="-1626"/>
                </a:stretch>
              </a:blipFill>
            </p:spPr>
            <p:txBody>
              <a:bodyPr/>
              <a:lstStyle/>
              <a:p>
                <a:r>
                  <a:rPr lang="en-US">
                    <a:noFill/>
                  </a:rPr>
                  <a:t> </a:t>
                </a:r>
              </a:p>
            </p:txBody>
          </p:sp>
        </mc:Fallback>
      </mc:AlternateContent>
      <p:pic>
        <p:nvPicPr>
          <p:cNvPr id="37" name="Picture 36" descr="A diagram of a diagram&#10;&#10;AI-generated content may be incorrect.">
            <a:extLst>
              <a:ext uri="{FF2B5EF4-FFF2-40B4-BE49-F238E27FC236}">
                <a16:creationId xmlns:a16="http://schemas.microsoft.com/office/drawing/2014/main" id="{04B979E2-6D9E-3020-063C-F39FF8F3E6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19656" y="6477885"/>
            <a:ext cx="1869023" cy="1724191"/>
          </a:xfrm>
          <a:prstGeom prst="rect">
            <a:avLst/>
          </a:prstGeom>
        </p:spPr>
      </p:pic>
      <p:pic>
        <p:nvPicPr>
          <p:cNvPr id="39" name="Picture 38" descr="A diagram of a network&#10;&#10;AI-generated content may be incorrect.">
            <a:extLst>
              <a:ext uri="{FF2B5EF4-FFF2-40B4-BE49-F238E27FC236}">
                <a16:creationId xmlns:a16="http://schemas.microsoft.com/office/drawing/2014/main" id="{15AAC060-25A7-8D52-626E-7E11553656F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12494" y="6477885"/>
            <a:ext cx="1756178" cy="1682163"/>
          </a:xfrm>
          <a:prstGeom prst="rect">
            <a:avLst/>
          </a:prstGeom>
        </p:spPr>
      </p:pic>
      <p:pic>
        <p:nvPicPr>
          <p:cNvPr id="41" name="Picture 40" descr="A diagram of a number&#10;&#10;AI-generated content may be incorrect.">
            <a:extLst>
              <a:ext uri="{FF2B5EF4-FFF2-40B4-BE49-F238E27FC236}">
                <a16:creationId xmlns:a16="http://schemas.microsoft.com/office/drawing/2014/main" id="{6D2A1594-4CEC-8CD0-20C8-DEA8D1497A9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048546" y="6516675"/>
            <a:ext cx="1822904" cy="1724191"/>
          </a:xfrm>
          <a:prstGeom prst="rect">
            <a:avLst/>
          </a:prstGeom>
        </p:spPr>
      </p:pic>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617F62D2-BE88-668D-AC2F-8CD569EF2882}"/>
                  </a:ext>
                </a:extLst>
              </p:cNvPr>
              <p:cNvSpPr txBox="1"/>
              <p:nvPr/>
            </p:nvSpPr>
            <p:spPr>
              <a:xfrm>
                <a:off x="6967560" y="8196414"/>
                <a:ext cx="6168064" cy="3306611"/>
              </a:xfrm>
              <a:prstGeom prst="rect">
                <a:avLst/>
              </a:prstGeom>
              <a:noFill/>
            </p:spPr>
            <p:txBody>
              <a:bodyPr wrap="square">
                <a:spAutoFit/>
              </a:bodyPr>
              <a:lstStyle/>
              <a:p>
                <a:pPr algn="just">
                  <a:buNone/>
                </a:pPr>
                <a:r>
                  <a:rPr lang="en-US" b="1" i="0" dirty="0">
                    <a:effectLst/>
                    <a:latin typeface="fkGroteskNeue"/>
                  </a:rPr>
                  <a:t>Decentralized Control Barrier Functions</a:t>
                </a:r>
              </a:p>
              <a:p>
                <a:pPr algn="just">
                  <a:buNone/>
                </a:pPr>
                <a:r>
                  <a:rPr lang="en-US" b="0" i="0" dirty="0">
                    <a:effectLst/>
                    <a:latin typeface="fkGroteskNeue"/>
                  </a:rPr>
                  <a:t>Control barrier functions ensure safety and connectivity between neighboring robots. For robot </a:t>
                </a:r>
                <a14:m>
                  <m:oMath xmlns:m="http://schemas.openxmlformats.org/officeDocument/2006/math">
                    <m:r>
                      <a:rPr lang="en-US" i="1">
                        <a:latin typeface="Cambria Math" panose="02040503050406030204" pitchFamily="18" charset="0"/>
                      </a:rPr>
                      <m:t>𝑖</m:t>
                    </m:r>
                  </m:oMath>
                </a14:m>
                <a:r>
                  <a:rPr lang="en-US" b="0" i="0" dirty="0">
                    <a:effectLst/>
                    <a:latin typeface="fkGroteskNeue"/>
                  </a:rPr>
                  <a:t> and neighbor </a:t>
                </a:r>
                <a14:m>
                  <m:oMath xmlns:m="http://schemas.openxmlformats.org/officeDocument/2006/math">
                    <m:r>
                      <a:rPr lang="en-US" i="1">
                        <a:latin typeface="Cambria Math" panose="02040503050406030204" pitchFamily="18" charset="0"/>
                      </a:rPr>
                      <m:t>𝑗</m:t>
                    </m:r>
                  </m:oMath>
                </a14:m>
                <a:r>
                  <a:rPr lang="en-US" b="0" i="0" dirty="0">
                    <a:effectLst/>
                    <a:latin typeface="fkGroteskNeue"/>
                  </a:rPr>
                  <a:t>:</a:t>
                </a:r>
              </a:p>
              <a:p>
                <a:pPr algn="just">
                  <a:buFont typeface="Arial" panose="020B0604020202020204" pitchFamily="34" charset="0"/>
                  <a:buChar char="•"/>
                </a:pPr>
                <a:r>
                  <a:rPr lang="en-US" b="0" i="0" dirty="0">
                    <a:effectLst/>
                    <a:latin typeface="fkGroteskNeue"/>
                  </a:rPr>
                  <a:t>Safety:</a:t>
                </a:r>
              </a:p>
              <a:p>
                <a:pPr algn="just">
                  <a:buNone/>
                </a:pPr>
                <a14:m>
                  <m:oMathPara xmlns:m="http://schemas.openxmlformats.org/officeDocument/2006/math">
                    <m:oMathParaPr>
                      <m:jc m:val="centerGroup"/>
                    </m:oMathParaPr>
                    <m:oMath xmlns:m="http://schemas.openxmlformats.org/officeDocument/2006/math">
                      <m:sSubSup>
                        <m:sSubSupPr>
                          <m:ctrlPr>
                            <a:rPr lang="ar-AE" i="1">
                              <a:latin typeface="Cambria Math" panose="02040503050406030204" pitchFamily="18" charset="0"/>
                            </a:rPr>
                          </m:ctrlPr>
                        </m:sSubSupPr>
                        <m:e>
                          <m:r>
                            <a:rPr lang="ar-AE" i="1">
                              <a:latin typeface="Cambria Math" panose="02040503050406030204" pitchFamily="18" charset="0"/>
                            </a:rPr>
                            <m:t>h</m:t>
                          </m:r>
                        </m:e>
                        <m:sub>
                          <m:r>
                            <a:rPr lang="ar-AE" i="1">
                              <a:latin typeface="Cambria Math" panose="02040503050406030204" pitchFamily="18" charset="0"/>
                            </a:rPr>
                            <m:t>𝑠𝑎𝑓𝑒</m:t>
                          </m:r>
                        </m:sub>
                        <m:sup>
                          <m:r>
                            <a:rPr lang="ar-AE" i="1">
                              <a:latin typeface="Cambria Math" panose="02040503050406030204" pitchFamily="18" charset="0"/>
                            </a:rPr>
                            <m:t>𝑖𝑗</m:t>
                          </m:r>
                        </m:sup>
                      </m:sSubSup>
                      <m:d>
                        <m:dPr>
                          <m:ctrlPr>
                            <a:rPr lang="ar-AE" i="1">
                              <a:latin typeface="Cambria Math" panose="02040503050406030204" pitchFamily="18" charset="0"/>
                            </a:rPr>
                          </m:ctrlPr>
                        </m:dPr>
                        <m:e>
                          <m:r>
                            <a:rPr lang="ar-AE" i="1">
                              <a:latin typeface="Cambria Math" panose="02040503050406030204" pitchFamily="18" charset="0"/>
                            </a:rPr>
                            <m:t>𝑥</m:t>
                          </m:r>
                        </m:e>
                      </m:d>
                      <m:r>
                        <a:rPr lang="ar-AE" i="0">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𝑖</m:t>
                          </m:r>
                        </m:sub>
                      </m:sSub>
                      <m:r>
                        <a:rPr lang="ar-AE" i="0">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𝑗</m:t>
                          </m:r>
                        </m:sub>
                      </m:sSub>
                      <m:sSup>
                        <m:sSupPr>
                          <m:ctrlPr>
                            <a:rPr lang="ar-AE" i="1">
                              <a:latin typeface="Cambria Math" panose="02040503050406030204" pitchFamily="18" charset="0"/>
                            </a:rPr>
                          </m:ctrlPr>
                        </m:sSupPr>
                        <m:e>
                          <m:r>
                            <a:rPr lang="ar-AE" i="0">
                              <a:latin typeface="Cambria Math" panose="02040503050406030204" pitchFamily="18" charset="0"/>
                            </a:rPr>
                            <m:t>∥</m:t>
                          </m:r>
                        </m:e>
                        <m:sup>
                          <m:r>
                            <a:rPr lang="ar-AE" i="0">
                              <a:latin typeface="Cambria Math" panose="02040503050406030204" pitchFamily="18" charset="0"/>
                            </a:rPr>
                            <m:t>2</m:t>
                          </m:r>
                        </m:sup>
                      </m:sSup>
                      <m:r>
                        <a:rPr lang="ar-AE" i="0">
                          <a:latin typeface="Cambria Math" panose="02040503050406030204" pitchFamily="18" charset="0"/>
                        </a:rPr>
                        <m:t>−</m:t>
                      </m:r>
                      <m:sSubSup>
                        <m:sSubSupPr>
                          <m:ctrlPr>
                            <a:rPr lang="ar-AE" i="1">
                              <a:latin typeface="Cambria Math" panose="02040503050406030204" pitchFamily="18" charset="0"/>
                            </a:rPr>
                          </m:ctrlPr>
                        </m:sSubSupPr>
                        <m:e>
                          <m:r>
                            <a:rPr lang="ar-AE" i="1">
                              <a:latin typeface="Cambria Math" panose="02040503050406030204" pitchFamily="18" charset="0"/>
                            </a:rPr>
                            <m:t>𝑑</m:t>
                          </m:r>
                        </m:e>
                        <m:sub>
                          <m:r>
                            <m:rPr>
                              <m:sty m:val="p"/>
                            </m:rPr>
                            <a:rPr lang="en-US" i="0">
                              <a:latin typeface="Cambria Math" panose="02040503050406030204" pitchFamily="18" charset="0"/>
                            </a:rPr>
                            <m:t>min</m:t>
                          </m:r>
                        </m:sub>
                        <m:sup>
                          <m:r>
                            <a:rPr lang="en-US" b="0" i="1" smtClean="0">
                              <a:latin typeface="Cambria Math" panose="02040503050406030204" pitchFamily="18" charset="0"/>
                            </a:rPr>
                            <m:t>2</m:t>
                          </m:r>
                        </m:sup>
                      </m:sSubSup>
                      <m:r>
                        <a:rPr lang="ar-AE" i="0">
                          <a:latin typeface="Cambria Math" panose="02040503050406030204" pitchFamily="18" charset="0"/>
                        </a:rPr>
                        <m:t>&gt;</m:t>
                      </m:r>
                      <m:r>
                        <a:rPr lang="ar-AE" i="0">
                          <a:latin typeface="Cambria Math" panose="02040503050406030204" pitchFamily="18" charset="0"/>
                        </a:rPr>
                        <m:t>0</m:t>
                      </m:r>
                    </m:oMath>
                  </m:oMathPara>
                </a14:m>
                <a:endParaRPr lang="ar-AE" dirty="0"/>
              </a:p>
              <a:p>
                <a:pPr algn="just">
                  <a:buFont typeface="Arial" panose="020B0604020202020204" pitchFamily="34" charset="0"/>
                  <a:buChar char="•"/>
                </a:pPr>
                <a:r>
                  <a:rPr lang="en-US" b="0" i="0" dirty="0">
                    <a:effectLst/>
                    <a:latin typeface="fkGroteskNeue"/>
                  </a:rPr>
                  <a:t>Connectivity:</a:t>
                </a:r>
              </a:p>
              <a:p>
                <a:pPr algn="just">
                  <a:buNone/>
                </a:pPr>
                <a14:m>
                  <m:oMathPara xmlns:m="http://schemas.openxmlformats.org/officeDocument/2006/math">
                    <m:oMathParaPr>
                      <m:jc m:val="centerGroup"/>
                    </m:oMathParaPr>
                    <m:oMath xmlns:m="http://schemas.openxmlformats.org/officeDocument/2006/math">
                      <m:sSubSup>
                        <m:sSubSupPr>
                          <m:ctrlPr>
                            <a:rPr lang="ar-AE" i="1">
                              <a:latin typeface="Cambria Math" panose="02040503050406030204" pitchFamily="18" charset="0"/>
                            </a:rPr>
                          </m:ctrlPr>
                        </m:sSubSupPr>
                        <m:e>
                          <m:r>
                            <a:rPr lang="ar-AE" i="1">
                              <a:latin typeface="Cambria Math" panose="02040503050406030204" pitchFamily="18" charset="0"/>
                            </a:rPr>
                            <m:t>h</m:t>
                          </m:r>
                        </m:e>
                        <m:sub>
                          <m:r>
                            <a:rPr lang="ar-AE" i="1">
                              <a:latin typeface="Cambria Math" panose="02040503050406030204" pitchFamily="18" charset="0"/>
                            </a:rPr>
                            <m:t>𝑐𝑜𝑛𝑛</m:t>
                          </m:r>
                        </m:sub>
                        <m:sup>
                          <m:r>
                            <a:rPr lang="ar-AE" i="1">
                              <a:latin typeface="Cambria Math" panose="02040503050406030204" pitchFamily="18" charset="0"/>
                            </a:rPr>
                            <m:t>𝑖𝑗</m:t>
                          </m:r>
                        </m:sup>
                      </m:sSubSup>
                      <m:d>
                        <m:dPr>
                          <m:ctrlPr>
                            <a:rPr lang="ar-AE" i="1">
                              <a:latin typeface="Cambria Math" panose="02040503050406030204" pitchFamily="18" charset="0"/>
                            </a:rPr>
                          </m:ctrlPr>
                        </m:dPr>
                        <m:e>
                          <m:r>
                            <a:rPr lang="ar-AE" i="1">
                              <a:latin typeface="Cambria Math" panose="02040503050406030204" pitchFamily="18" charset="0"/>
                            </a:rPr>
                            <m:t>𝑥</m:t>
                          </m:r>
                        </m:e>
                      </m:d>
                      <m:r>
                        <a:rPr lang="ar-AE" i="0">
                          <a:latin typeface="Cambria Math" panose="02040503050406030204" pitchFamily="18" charset="0"/>
                        </a:rPr>
                        <m:t>=</m:t>
                      </m:r>
                      <m:sSubSup>
                        <m:sSubSupPr>
                          <m:ctrlPr>
                            <a:rPr lang="ar-AE" i="1">
                              <a:latin typeface="Cambria Math" panose="02040503050406030204" pitchFamily="18" charset="0"/>
                            </a:rPr>
                          </m:ctrlPr>
                        </m:sSubSupPr>
                        <m:e>
                          <m:r>
                            <a:rPr lang="ar-AE" i="1">
                              <a:latin typeface="Cambria Math" panose="02040503050406030204" pitchFamily="18" charset="0"/>
                            </a:rPr>
                            <m:t>𝑅</m:t>
                          </m:r>
                        </m:e>
                        <m:sub>
                          <m:r>
                            <a:rPr lang="ar-AE" i="1">
                              <a:latin typeface="Cambria Math" panose="02040503050406030204" pitchFamily="18" charset="0"/>
                            </a:rPr>
                            <m:t>𝑚𝑎𝑥</m:t>
                          </m:r>
                        </m:sub>
                        <m:sup>
                          <m:r>
                            <a:rPr lang="ar-AE" i="0">
                              <a:latin typeface="Cambria Math" panose="02040503050406030204" pitchFamily="18" charset="0"/>
                            </a:rPr>
                            <m:t>2</m:t>
                          </m:r>
                        </m:sup>
                      </m:sSubSup>
                      <m:r>
                        <a:rPr lang="ar-AE" i="0">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𝑖</m:t>
                          </m:r>
                        </m:sub>
                      </m:sSub>
                      <m:r>
                        <a:rPr lang="ar-AE" i="0">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𝑗</m:t>
                          </m:r>
                        </m:sub>
                      </m:sSub>
                      <m:sSup>
                        <m:sSupPr>
                          <m:ctrlPr>
                            <a:rPr lang="ar-AE" i="1">
                              <a:latin typeface="Cambria Math" panose="02040503050406030204" pitchFamily="18" charset="0"/>
                            </a:rPr>
                          </m:ctrlPr>
                        </m:sSupPr>
                        <m:e>
                          <m:r>
                            <a:rPr lang="ar-AE" i="0">
                              <a:latin typeface="Cambria Math" panose="02040503050406030204" pitchFamily="18" charset="0"/>
                            </a:rPr>
                            <m:t>∥</m:t>
                          </m:r>
                        </m:e>
                        <m:sup>
                          <m:r>
                            <a:rPr lang="ar-AE" i="0">
                              <a:latin typeface="Cambria Math" panose="02040503050406030204" pitchFamily="18" charset="0"/>
                            </a:rPr>
                            <m:t>2</m:t>
                          </m:r>
                        </m:sup>
                      </m:sSup>
                      <m:r>
                        <a:rPr lang="ar-AE" i="0">
                          <a:latin typeface="Cambria Math" panose="02040503050406030204" pitchFamily="18" charset="0"/>
                        </a:rPr>
                        <m:t>&gt;</m:t>
                      </m:r>
                      <m:r>
                        <a:rPr lang="ar-AE" i="0">
                          <a:latin typeface="Cambria Math" panose="02040503050406030204" pitchFamily="18" charset="0"/>
                        </a:rPr>
                        <m:t>0</m:t>
                      </m:r>
                    </m:oMath>
                  </m:oMathPara>
                </a14:m>
                <a:endParaRPr lang="ar-AE" dirty="0"/>
              </a:p>
              <a:p>
                <a:pPr algn="just">
                  <a:buNone/>
                </a:pPr>
                <a:r>
                  <a:rPr lang="en-US" b="0" i="0" dirty="0">
                    <a:effectLst/>
                    <a:latin typeface="fkGroteskNeue"/>
                  </a:rPr>
                  <a:t>At each step, robots solve for control input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𝑢</m:t>
                        </m:r>
                      </m:e>
                      <m:sub>
                        <m:r>
                          <a:rPr lang="ar-AE" i="1">
                            <a:latin typeface="Cambria Math" panose="02040503050406030204" pitchFamily="18" charset="0"/>
                          </a:rPr>
                          <m:t>𝑖</m:t>
                        </m:r>
                      </m:sub>
                    </m:sSub>
                  </m:oMath>
                </a14:m>
                <a:r>
                  <a:rPr lang="ar-AE" b="0" i="0" dirty="0">
                    <a:effectLst/>
                    <a:latin typeface="fkGroteskNeue"/>
                  </a:rPr>
                  <a:t> </a:t>
                </a:r>
                <a:r>
                  <a:rPr lang="en-US" b="0" i="0" dirty="0">
                    <a:effectLst/>
                    <a:latin typeface="fkGroteskNeue"/>
                  </a:rPr>
                  <a:t>satisfying:</a:t>
                </a:r>
              </a:p>
              <a:p>
                <a:pPr algn="just">
                  <a:buNone/>
                </a:pPr>
                <a14:m>
                  <m:oMathPara xmlns:m="http://schemas.openxmlformats.org/officeDocument/2006/math">
                    <m:oMathParaPr>
                      <m:jc m:val="centerGroup"/>
                    </m:oMathParaPr>
                    <m:oMath xmlns:m="http://schemas.openxmlformats.org/officeDocument/2006/math">
                      <m:sSubSup>
                        <m:sSubSupPr>
                          <m:ctrlPr>
                            <a:rPr lang="ar-AE" i="1">
                              <a:latin typeface="Cambria Math" panose="02040503050406030204" pitchFamily="18" charset="0"/>
                            </a:rPr>
                          </m:ctrlPr>
                        </m:sSubSupPr>
                        <m:e>
                          <m:acc>
                            <m:accPr>
                              <m:chr m:val="̇"/>
                              <m:ctrlPr>
                                <a:rPr lang="ar-AE" i="1">
                                  <a:latin typeface="Cambria Math" panose="02040503050406030204" pitchFamily="18" charset="0"/>
                                </a:rPr>
                              </m:ctrlPr>
                            </m:accPr>
                            <m:e>
                              <m:r>
                                <a:rPr lang="ar-AE" i="1">
                                  <a:latin typeface="Cambria Math" panose="02040503050406030204" pitchFamily="18" charset="0"/>
                                </a:rPr>
                                <m:t>h</m:t>
                              </m:r>
                            </m:e>
                          </m:acc>
                        </m:e>
                        <m:sub>
                          <m:r>
                            <a:rPr lang="ar-AE" i="1">
                              <a:latin typeface="Cambria Math" panose="02040503050406030204" pitchFamily="18" charset="0"/>
                            </a:rPr>
                            <m:t>𝑠𝑎𝑓𝑒</m:t>
                          </m:r>
                        </m:sub>
                        <m:sup>
                          <m:r>
                            <a:rPr lang="ar-AE" i="1">
                              <a:latin typeface="Cambria Math" panose="02040503050406030204" pitchFamily="18" charset="0"/>
                            </a:rPr>
                            <m:t>𝑖𝑗</m:t>
                          </m:r>
                        </m:sup>
                      </m:sSubSup>
                      <m:d>
                        <m:dPr>
                          <m:ctrlPr>
                            <a:rPr lang="ar-AE" i="1">
                              <a:latin typeface="Cambria Math" panose="02040503050406030204" pitchFamily="18" charset="0"/>
                            </a:rPr>
                          </m:ctrlPr>
                        </m:dPr>
                        <m:e>
                          <m:r>
                            <a:rPr lang="ar-AE" i="1">
                              <a:latin typeface="Cambria Math" panose="02040503050406030204" pitchFamily="18" charset="0"/>
                            </a:rPr>
                            <m:t>𝑥</m:t>
                          </m:r>
                        </m:e>
                      </m:d>
                      <m:r>
                        <a:rPr lang="ar-AE" i="0">
                          <a:latin typeface="Cambria Math" panose="02040503050406030204" pitchFamily="18" charset="0"/>
                        </a:rPr>
                        <m:t>+</m:t>
                      </m:r>
                      <m:r>
                        <a:rPr lang="ar-AE" i="1">
                          <a:latin typeface="Cambria Math" panose="02040503050406030204" pitchFamily="18" charset="0"/>
                        </a:rPr>
                        <m:t>𝛼</m:t>
                      </m:r>
                      <m:d>
                        <m:dPr>
                          <m:ctrlPr>
                            <a:rPr lang="ar-AE" i="1">
                              <a:latin typeface="Cambria Math" panose="02040503050406030204" pitchFamily="18" charset="0"/>
                            </a:rPr>
                          </m:ctrlPr>
                        </m:dPr>
                        <m:e>
                          <m:sSubSup>
                            <m:sSubSupPr>
                              <m:ctrlPr>
                                <a:rPr lang="ar-AE" i="1">
                                  <a:latin typeface="Cambria Math" panose="02040503050406030204" pitchFamily="18" charset="0"/>
                                </a:rPr>
                              </m:ctrlPr>
                            </m:sSubSupPr>
                            <m:e>
                              <m:r>
                                <a:rPr lang="ar-AE" i="1">
                                  <a:latin typeface="Cambria Math" panose="02040503050406030204" pitchFamily="18" charset="0"/>
                                </a:rPr>
                                <m:t>h</m:t>
                              </m:r>
                            </m:e>
                            <m:sub>
                              <m:r>
                                <a:rPr lang="ar-AE" i="1">
                                  <a:latin typeface="Cambria Math" panose="02040503050406030204" pitchFamily="18" charset="0"/>
                                </a:rPr>
                                <m:t>𝑠𝑎𝑓𝑒</m:t>
                              </m:r>
                            </m:sub>
                            <m:sup>
                              <m:r>
                                <a:rPr lang="ar-AE" i="1">
                                  <a:latin typeface="Cambria Math" panose="02040503050406030204" pitchFamily="18" charset="0"/>
                                </a:rPr>
                                <m:t>𝑖𝑗</m:t>
                              </m:r>
                            </m:sup>
                          </m:sSubSup>
                          <m:d>
                            <m:dPr>
                              <m:ctrlPr>
                                <a:rPr lang="ar-AE" i="1">
                                  <a:latin typeface="Cambria Math" panose="02040503050406030204" pitchFamily="18" charset="0"/>
                                </a:rPr>
                              </m:ctrlPr>
                            </m:dPr>
                            <m:e>
                              <m:r>
                                <a:rPr lang="ar-AE" i="1">
                                  <a:latin typeface="Cambria Math" panose="02040503050406030204" pitchFamily="18" charset="0"/>
                                </a:rPr>
                                <m:t>𝑥</m:t>
                              </m:r>
                            </m:e>
                          </m:d>
                        </m:e>
                      </m:d>
                      <m:r>
                        <a:rPr lang="ar-AE" i="0">
                          <a:latin typeface="Cambria Math" panose="02040503050406030204" pitchFamily="18" charset="0"/>
                        </a:rPr>
                        <m:t>≥</m:t>
                      </m:r>
                      <m:r>
                        <a:rPr lang="ar-AE" i="0">
                          <a:latin typeface="Cambria Math" panose="02040503050406030204" pitchFamily="18" charset="0"/>
                        </a:rPr>
                        <m:t>0</m:t>
                      </m:r>
                    </m:oMath>
                  </m:oMathPara>
                </a14:m>
                <a:endParaRPr lang="ar-AE" dirty="0"/>
              </a:p>
              <a:p>
                <a:pPr algn="just">
                  <a:buNone/>
                </a:pPr>
                <a14:m>
                  <m:oMathPara xmlns:m="http://schemas.openxmlformats.org/officeDocument/2006/math">
                    <m:oMathParaPr>
                      <m:jc m:val="centerGroup"/>
                    </m:oMathParaPr>
                    <m:oMath xmlns:m="http://schemas.openxmlformats.org/officeDocument/2006/math">
                      <m:sSubSup>
                        <m:sSubSupPr>
                          <m:ctrlPr>
                            <a:rPr lang="ar-AE" i="1">
                              <a:latin typeface="Cambria Math" panose="02040503050406030204" pitchFamily="18" charset="0"/>
                            </a:rPr>
                          </m:ctrlPr>
                        </m:sSubSupPr>
                        <m:e>
                          <m:acc>
                            <m:accPr>
                              <m:chr m:val="̇"/>
                              <m:ctrlPr>
                                <a:rPr lang="ar-AE" i="1">
                                  <a:latin typeface="Cambria Math" panose="02040503050406030204" pitchFamily="18" charset="0"/>
                                </a:rPr>
                              </m:ctrlPr>
                            </m:accPr>
                            <m:e>
                              <m:r>
                                <a:rPr lang="ar-AE" i="1">
                                  <a:latin typeface="Cambria Math" panose="02040503050406030204" pitchFamily="18" charset="0"/>
                                </a:rPr>
                                <m:t>h</m:t>
                              </m:r>
                            </m:e>
                          </m:acc>
                        </m:e>
                        <m:sub>
                          <m:r>
                            <a:rPr lang="ar-AE" i="1">
                              <a:latin typeface="Cambria Math" panose="02040503050406030204" pitchFamily="18" charset="0"/>
                            </a:rPr>
                            <m:t>𝑐𝑜𝑛𝑛</m:t>
                          </m:r>
                        </m:sub>
                        <m:sup>
                          <m:r>
                            <a:rPr lang="ar-AE" i="1">
                              <a:latin typeface="Cambria Math" panose="02040503050406030204" pitchFamily="18" charset="0"/>
                            </a:rPr>
                            <m:t>𝑖𝑗</m:t>
                          </m:r>
                        </m:sup>
                      </m:sSubSup>
                      <m:d>
                        <m:dPr>
                          <m:ctrlPr>
                            <a:rPr lang="ar-AE" i="1">
                              <a:latin typeface="Cambria Math" panose="02040503050406030204" pitchFamily="18" charset="0"/>
                            </a:rPr>
                          </m:ctrlPr>
                        </m:dPr>
                        <m:e>
                          <m:r>
                            <a:rPr lang="ar-AE" i="1">
                              <a:latin typeface="Cambria Math" panose="02040503050406030204" pitchFamily="18" charset="0"/>
                            </a:rPr>
                            <m:t>𝑥</m:t>
                          </m:r>
                        </m:e>
                      </m:d>
                      <m:r>
                        <a:rPr lang="ar-AE" i="0">
                          <a:latin typeface="Cambria Math" panose="02040503050406030204" pitchFamily="18" charset="0"/>
                        </a:rPr>
                        <m:t>+</m:t>
                      </m:r>
                      <m:r>
                        <a:rPr lang="ar-AE" i="1">
                          <a:latin typeface="Cambria Math" panose="02040503050406030204" pitchFamily="18" charset="0"/>
                        </a:rPr>
                        <m:t>𝛼</m:t>
                      </m:r>
                      <m:d>
                        <m:dPr>
                          <m:ctrlPr>
                            <a:rPr lang="ar-AE" i="1">
                              <a:latin typeface="Cambria Math" panose="02040503050406030204" pitchFamily="18" charset="0"/>
                            </a:rPr>
                          </m:ctrlPr>
                        </m:dPr>
                        <m:e>
                          <m:sSubSup>
                            <m:sSubSupPr>
                              <m:ctrlPr>
                                <a:rPr lang="ar-AE" i="1">
                                  <a:latin typeface="Cambria Math" panose="02040503050406030204" pitchFamily="18" charset="0"/>
                                </a:rPr>
                              </m:ctrlPr>
                            </m:sSubSupPr>
                            <m:e>
                              <m:r>
                                <a:rPr lang="ar-AE" i="1">
                                  <a:latin typeface="Cambria Math" panose="02040503050406030204" pitchFamily="18" charset="0"/>
                                </a:rPr>
                                <m:t>h</m:t>
                              </m:r>
                            </m:e>
                            <m:sub>
                              <m:r>
                                <a:rPr lang="ar-AE" i="1">
                                  <a:latin typeface="Cambria Math" panose="02040503050406030204" pitchFamily="18" charset="0"/>
                                </a:rPr>
                                <m:t>𝑐𝑜𝑛𝑛</m:t>
                              </m:r>
                            </m:sub>
                            <m:sup>
                              <m:r>
                                <a:rPr lang="ar-AE" i="1">
                                  <a:latin typeface="Cambria Math" panose="02040503050406030204" pitchFamily="18" charset="0"/>
                                </a:rPr>
                                <m:t>𝑖𝑗</m:t>
                              </m:r>
                            </m:sup>
                          </m:sSubSup>
                          <m:d>
                            <m:dPr>
                              <m:ctrlPr>
                                <a:rPr lang="ar-AE" i="1">
                                  <a:latin typeface="Cambria Math" panose="02040503050406030204" pitchFamily="18" charset="0"/>
                                </a:rPr>
                              </m:ctrlPr>
                            </m:dPr>
                            <m:e>
                              <m:r>
                                <a:rPr lang="ar-AE" i="1">
                                  <a:latin typeface="Cambria Math" panose="02040503050406030204" pitchFamily="18" charset="0"/>
                                </a:rPr>
                                <m:t>𝑥</m:t>
                              </m:r>
                            </m:e>
                          </m:d>
                        </m:e>
                      </m:d>
                      <m:r>
                        <a:rPr lang="ar-AE" i="0">
                          <a:latin typeface="Cambria Math" panose="02040503050406030204" pitchFamily="18" charset="0"/>
                        </a:rPr>
                        <m:t>≥</m:t>
                      </m:r>
                      <m:r>
                        <a:rPr lang="ar-AE" i="0">
                          <a:latin typeface="Cambria Math" panose="02040503050406030204" pitchFamily="18" charset="0"/>
                        </a:rPr>
                        <m:t>0</m:t>
                      </m:r>
                    </m:oMath>
                  </m:oMathPara>
                </a14:m>
                <a:endParaRPr lang="ar-AE" dirty="0"/>
              </a:p>
            </p:txBody>
          </p:sp>
        </mc:Choice>
        <mc:Fallback xmlns="">
          <p:sp>
            <p:nvSpPr>
              <p:cNvPr id="43" name="TextBox 42">
                <a:extLst>
                  <a:ext uri="{FF2B5EF4-FFF2-40B4-BE49-F238E27FC236}">
                    <a16:creationId xmlns:a16="http://schemas.microsoft.com/office/drawing/2014/main" id="{617F62D2-BE88-668D-AC2F-8CD569EF2882}"/>
                  </a:ext>
                </a:extLst>
              </p:cNvPr>
              <p:cNvSpPr txBox="1">
                <a:spLocks noRot="1" noChangeAspect="1" noMove="1" noResize="1" noEditPoints="1" noAdjustHandles="1" noChangeArrowheads="1" noChangeShapeType="1" noTextEdit="1"/>
              </p:cNvSpPr>
              <p:nvPr/>
            </p:nvSpPr>
            <p:spPr>
              <a:xfrm>
                <a:off x="6967560" y="8196414"/>
                <a:ext cx="6168064" cy="3306611"/>
              </a:xfrm>
              <a:prstGeom prst="rect">
                <a:avLst/>
              </a:prstGeom>
              <a:blipFill>
                <a:blip r:embed="rId6"/>
                <a:stretch>
                  <a:fillRect l="-889" t="-1107" r="-791"/>
                </a:stretch>
              </a:blipFill>
            </p:spPr>
            <p:txBody>
              <a:bodyPr/>
              <a:lstStyle/>
              <a:p>
                <a:r>
                  <a:rPr lang="en-US">
                    <a:noFill/>
                  </a:rPr>
                  <a:t> </a:t>
                </a:r>
              </a:p>
            </p:txBody>
          </p:sp>
        </mc:Fallback>
      </mc:AlternateContent>
      <p:sp>
        <p:nvSpPr>
          <p:cNvPr id="44" name="object 17">
            <a:extLst>
              <a:ext uri="{FF2B5EF4-FFF2-40B4-BE49-F238E27FC236}">
                <a16:creationId xmlns:a16="http://schemas.microsoft.com/office/drawing/2014/main" id="{A9C6600B-4E57-749A-DB38-2F859DB45F8B}"/>
              </a:ext>
            </a:extLst>
          </p:cNvPr>
          <p:cNvSpPr txBox="1"/>
          <p:nvPr/>
        </p:nvSpPr>
        <p:spPr>
          <a:xfrm>
            <a:off x="13521066" y="2178472"/>
            <a:ext cx="6208384" cy="532197"/>
          </a:xfrm>
          <a:prstGeom prst="rect">
            <a:avLst/>
          </a:prstGeom>
          <a:solidFill>
            <a:srgbClr val="FFC527"/>
          </a:solidFill>
        </p:spPr>
        <p:txBody>
          <a:bodyPr vert="horz" wrap="square" lIns="0" tIns="85090" rIns="0" bIns="0" rtlCol="0">
            <a:spAutoFit/>
          </a:bodyPr>
          <a:lstStyle/>
          <a:p>
            <a:pPr algn="ctr">
              <a:lnSpc>
                <a:spcPct val="100000"/>
              </a:lnSpc>
              <a:spcBef>
                <a:spcPts val="670"/>
              </a:spcBef>
            </a:pPr>
            <a:r>
              <a:rPr lang="en-US" sz="2900" dirty="0">
                <a:latin typeface="Calibri"/>
                <a:cs typeface="Calibri"/>
              </a:rPr>
              <a:t>Simulation</a:t>
            </a:r>
            <a:endParaRPr sz="2900" dirty="0">
              <a:latin typeface="Calibri"/>
              <a:cs typeface="Calibri"/>
            </a:endParaRPr>
          </a:p>
        </p:txBody>
      </p:sp>
      <p:sp>
        <p:nvSpPr>
          <p:cNvPr id="46" name="object 18">
            <a:extLst>
              <a:ext uri="{FF2B5EF4-FFF2-40B4-BE49-F238E27FC236}">
                <a16:creationId xmlns:a16="http://schemas.microsoft.com/office/drawing/2014/main" id="{30170845-E8B8-0004-590C-A4705B7FC7C4}"/>
              </a:ext>
            </a:extLst>
          </p:cNvPr>
          <p:cNvSpPr/>
          <p:nvPr/>
        </p:nvSpPr>
        <p:spPr>
          <a:xfrm>
            <a:off x="13541361" y="2689351"/>
            <a:ext cx="6179820" cy="6264306"/>
          </a:xfrm>
          <a:custGeom>
            <a:avLst/>
            <a:gdLst/>
            <a:ahLst/>
            <a:cxnLst/>
            <a:rect l="l" t="t" r="r" b="b"/>
            <a:pathLst>
              <a:path w="6179819" h="9427210">
                <a:moveTo>
                  <a:pt x="0" y="9426588"/>
                </a:moveTo>
                <a:lnTo>
                  <a:pt x="6179218" y="9426588"/>
                </a:lnTo>
                <a:lnTo>
                  <a:pt x="6179218" y="0"/>
                </a:lnTo>
                <a:lnTo>
                  <a:pt x="0" y="0"/>
                </a:lnTo>
                <a:lnTo>
                  <a:pt x="0" y="9426588"/>
                </a:lnTo>
                <a:close/>
              </a:path>
            </a:pathLst>
          </a:custGeom>
          <a:ln w="30714">
            <a:solidFill>
              <a:srgbClr val="FFC527"/>
            </a:solidFill>
          </a:ln>
        </p:spPr>
        <p:txBody>
          <a:bodyPr wrap="square" lIns="0" tIns="0" rIns="0" bIns="0" rtlCol="0"/>
          <a:lstStyle/>
          <a:p>
            <a:endParaRPr/>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410B38F4-243A-A5CB-A646-B2DCF395D25E}"/>
                  </a:ext>
                </a:extLst>
              </p:cNvPr>
              <p:cNvSpPr txBox="1"/>
              <p:nvPr/>
            </p:nvSpPr>
            <p:spPr>
              <a:xfrm>
                <a:off x="13537290" y="2682547"/>
                <a:ext cx="6194512" cy="1754326"/>
              </a:xfrm>
              <a:prstGeom prst="rect">
                <a:avLst/>
              </a:prstGeom>
              <a:noFill/>
            </p:spPr>
            <p:txBody>
              <a:bodyPr wrap="square">
                <a:spAutoFit/>
              </a:bodyPr>
              <a:lstStyle/>
              <a:p>
                <a:pPr algn="just"/>
                <a:r>
                  <a:rPr lang="en-US" b="0" i="0" dirty="0">
                    <a:effectLst/>
                    <a:latin typeface="fkGroteskNeue"/>
                  </a:rPr>
                  <a:t>Simulations with multiple point robots in a 10×10 </a:t>
                </a:r>
                <a14:m>
                  <m:oMath xmlns:m="http://schemas.openxmlformats.org/officeDocument/2006/math">
                    <m:sSup>
                      <m:sSupPr>
                        <m:ctrlPr>
                          <a:rPr lang="en-US" b="0" i="1" smtClean="0">
                            <a:effectLst/>
                            <a:latin typeface="Cambria Math" panose="02040503050406030204" pitchFamily="18" charset="0"/>
                          </a:rPr>
                        </m:ctrlPr>
                      </m:sSupPr>
                      <m:e>
                        <m:r>
                          <a:rPr lang="en-US" b="0" i="1" smtClean="0">
                            <a:effectLst/>
                            <a:latin typeface="Cambria Math" panose="02040503050406030204" pitchFamily="18" charset="0"/>
                          </a:rPr>
                          <m:t>𝑚</m:t>
                        </m:r>
                      </m:e>
                      <m:sup>
                        <m:r>
                          <a:rPr lang="en-US" b="0" i="1" smtClean="0">
                            <a:effectLst/>
                            <a:latin typeface="Cambria Math" panose="02040503050406030204" pitchFamily="18" charset="0"/>
                          </a:rPr>
                          <m:t>2</m:t>
                        </m:r>
                      </m:sup>
                    </m:sSup>
                  </m:oMath>
                </a14:m>
                <a:r>
                  <a:rPr lang="ar-AE" b="0" i="0" dirty="0">
                    <a:effectLst/>
                    <a:latin typeface="fkGroteskNeue"/>
                  </a:rPr>
                  <a:t> </a:t>
                </a:r>
                <a:r>
                  <a:rPr lang="en-US" b="0" i="0" dirty="0">
                    <a:effectLst/>
                    <a:latin typeface="fkGroteskNeue"/>
                  </a:rPr>
                  <a:t>workspace tested the framework under realistic flow environments, varying robot dynamics, and constrained acoustic communication. Decentralized controllers solved CLF-CBF QPs for target engagement and maintained safety and connectivity</a:t>
                </a:r>
                <a:r>
                  <a:rPr lang="en-US" dirty="0">
                    <a:latin typeface="fkGroteskNeue"/>
                  </a:rPr>
                  <a:t> </a:t>
                </a:r>
                <a:r>
                  <a:rPr lang="en-US" b="0" i="0" dirty="0">
                    <a:effectLst/>
                    <a:latin typeface="fkGroteskNeue"/>
                  </a:rPr>
                  <a:t>despite turbulence, vortices, and hydrodynamic forces.</a:t>
                </a:r>
                <a:endParaRPr lang="en-US" dirty="0"/>
              </a:p>
            </p:txBody>
          </p:sp>
        </mc:Choice>
        <mc:Fallback xmlns="">
          <p:sp>
            <p:nvSpPr>
              <p:cNvPr id="48" name="TextBox 47">
                <a:extLst>
                  <a:ext uri="{FF2B5EF4-FFF2-40B4-BE49-F238E27FC236}">
                    <a16:creationId xmlns:a16="http://schemas.microsoft.com/office/drawing/2014/main" id="{410B38F4-243A-A5CB-A646-B2DCF395D25E}"/>
                  </a:ext>
                </a:extLst>
              </p:cNvPr>
              <p:cNvSpPr txBox="1">
                <a:spLocks noRot="1" noChangeAspect="1" noMove="1" noResize="1" noEditPoints="1" noAdjustHandles="1" noChangeArrowheads="1" noChangeShapeType="1" noTextEdit="1"/>
              </p:cNvSpPr>
              <p:nvPr/>
            </p:nvSpPr>
            <p:spPr>
              <a:xfrm>
                <a:off x="13537290" y="2682547"/>
                <a:ext cx="6194512" cy="1754326"/>
              </a:xfrm>
              <a:prstGeom prst="rect">
                <a:avLst/>
              </a:prstGeom>
              <a:blipFill>
                <a:blip r:embed="rId7"/>
                <a:stretch>
                  <a:fillRect l="-886" t="-2083" r="-787" b="-4514"/>
                </a:stretch>
              </a:blipFill>
            </p:spPr>
            <p:txBody>
              <a:bodyPr/>
              <a:lstStyle/>
              <a:p>
                <a:r>
                  <a:rPr lang="en-US">
                    <a:noFill/>
                  </a:rPr>
                  <a:t> </a:t>
                </a:r>
              </a:p>
            </p:txBody>
          </p:sp>
        </mc:Fallback>
      </mc:AlternateContent>
      <p:pic>
        <p:nvPicPr>
          <p:cNvPr id="50" name="Picture 49" descr="A graph with a line and points&#10;&#10;AI-generated content may be incorrect.">
            <a:extLst>
              <a:ext uri="{FF2B5EF4-FFF2-40B4-BE49-F238E27FC236}">
                <a16:creationId xmlns:a16="http://schemas.microsoft.com/office/drawing/2014/main" id="{C4C16CBA-0458-D376-AD33-465827D4C935}"/>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3938250" y="6093601"/>
            <a:ext cx="1752600" cy="1430992"/>
          </a:xfrm>
          <a:prstGeom prst="rect">
            <a:avLst/>
          </a:prstGeom>
        </p:spPr>
      </p:pic>
      <p:pic>
        <p:nvPicPr>
          <p:cNvPr id="52" name="Picture 51" descr="A screen shot of a map&#10;&#10;AI-generated content may be incorrect.">
            <a:extLst>
              <a:ext uri="{FF2B5EF4-FFF2-40B4-BE49-F238E27FC236}">
                <a16:creationId xmlns:a16="http://schemas.microsoft.com/office/drawing/2014/main" id="{7613E86C-3715-53E5-E35A-780DD8F0EBB5}"/>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3938250" y="4582016"/>
            <a:ext cx="1678909" cy="1358409"/>
          </a:xfrm>
          <a:prstGeom prst="rect">
            <a:avLst/>
          </a:prstGeom>
        </p:spPr>
      </p:pic>
      <p:sp>
        <p:nvSpPr>
          <p:cNvPr id="54" name="TextBox 53">
            <a:extLst>
              <a:ext uri="{FF2B5EF4-FFF2-40B4-BE49-F238E27FC236}">
                <a16:creationId xmlns:a16="http://schemas.microsoft.com/office/drawing/2014/main" id="{7CB69DA3-C110-7CCC-41C7-CC4E5D8C454F}"/>
              </a:ext>
            </a:extLst>
          </p:cNvPr>
          <p:cNvSpPr txBox="1"/>
          <p:nvPr/>
        </p:nvSpPr>
        <p:spPr>
          <a:xfrm>
            <a:off x="13633450" y="7464425"/>
            <a:ext cx="2353512" cy="1477328"/>
          </a:xfrm>
          <a:prstGeom prst="rect">
            <a:avLst/>
          </a:prstGeom>
          <a:noFill/>
        </p:spPr>
        <p:txBody>
          <a:bodyPr wrap="square">
            <a:spAutoFit/>
          </a:bodyPr>
          <a:lstStyle/>
          <a:p>
            <a:pPr algn="ctr"/>
            <a:r>
              <a:rPr lang="en-US" dirty="0">
                <a:latin typeface="fkGroteskNeue"/>
              </a:rPr>
              <a:t>The proposed control preserves connectivity, while uncontrolled robots fragment and disconnect.</a:t>
            </a:r>
          </a:p>
        </p:txBody>
      </p:sp>
      <p:pic>
        <p:nvPicPr>
          <p:cNvPr id="56" name="Picture 55" descr="A screen shot of a graph&#10;&#10;AI-generated content may be incorrect.">
            <a:extLst>
              <a:ext uri="{FF2B5EF4-FFF2-40B4-BE49-F238E27FC236}">
                <a16:creationId xmlns:a16="http://schemas.microsoft.com/office/drawing/2014/main" id="{0EDE87AC-47E2-9958-C4B4-53A083C76B67}"/>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6207476" y="4613592"/>
            <a:ext cx="1676854" cy="1288816"/>
          </a:xfrm>
          <a:prstGeom prst="rect">
            <a:avLst/>
          </a:prstGeom>
        </p:spPr>
      </p:pic>
      <p:pic>
        <p:nvPicPr>
          <p:cNvPr id="58" name="Picture 57" descr="A map of a constellation&#10;&#10;AI-generated content may be incorrect.">
            <a:extLst>
              <a:ext uri="{FF2B5EF4-FFF2-40B4-BE49-F238E27FC236}">
                <a16:creationId xmlns:a16="http://schemas.microsoft.com/office/drawing/2014/main" id="{AF5B684F-08B9-A777-8BA0-4F00DCD21BE7}"/>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7884329" y="4579267"/>
            <a:ext cx="1742446" cy="1323141"/>
          </a:xfrm>
          <a:prstGeom prst="rect">
            <a:avLst/>
          </a:prstGeom>
        </p:spPr>
      </p:pic>
      <p:pic>
        <p:nvPicPr>
          <p:cNvPr id="60" name="Picture 59" descr="A graph of a robot&#10;&#10;AI-generated content may be incorrect.">
            <a:extLst>
              <a:ext uri="{FF2B5EF4-FFF2-40B4-BE49-F238E27FC236}">
                <a16:creationId xmlns:a16="http://schemas.microsoft.com/office/drawing/2014/main" id="{E8E3116F-160D-15AC-26F6-FFF3161EA589}"/>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6207475" y="5949111"/>
            <a:ext cx="1692721" cy="1526504"/>
          </a:xfrm>
          <a:prstGeom prst="rect">
            <a:avLst/>
          </a:prstGeom>
        </p:spPr>
      </p:pic>
      <p:pic>
        <p:nvPicPr>
          <p:cNvPr id="62" name="Picture 61" descr="A graph of a robot&#10;&#10;AI-generated content may be incorrect.">
            <a:extLst>
              <a:ext uri="{FF2B5EF4-FFF2-40B4-BE49-F238E27FC236}">
                <a16:creationId xmlns:a16="http://schemas.microsoft.com/office/drawing/2014/main" id="{B5457EC2-AC86-4B90-CF37-83F5935F15DB}"/>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7934054" y="5984286"/>
            <a:ext cx="1692721" cy="1556339"/>
          </a:xfrm>
          <a:prstGeom prst="rect">
            <a:avLst/>
          </a:prstGeom>
        </p:spPr>
      </p:pic>
      <p:sp>
        <p:nvSpPr>
          <p:cNvPr id="64" name="TextBox 63">
            <a:extLst>
              <a:ext uri="{FF2B5EF4-FFF2-40B4-BE49-F238E27FC236}">
                <a16:creationId xmlns:a16="http://schemas.microsoft.com/office/drawing/2014/main" id="{27AE2DE3-5215-C1E6-0C24-BB19EC02F501}"/>
              </a:ext>
            </a:extLst>
          </p:cNvPr>
          <p:cNvSpPr txBox="1"/>
          <p:nvPr/>
        </p:nvSpPr>
        <p:spPr>
          <a:xfrm>
            <a:off x="16147295" y="7622880"/>
            <a:ext cx="3582155" cy="1200329"/>
          </a:xfrm>
          <a:prstGeom prst="rect">
            <a:avLst/>
          </a:prstGeom>
          <a:noFill/>
        </p:spPr>
        <p:txBody>
          <a:bodyPr wrap="square">
            <a:spAutoFit/>
          </a:bodyPr>
          <a:lstStyle/>
          <a:p>
            <a:pPr algn="ctr"/>
            <a:r>
              <a:rPr lang="en-US" b="0" i="0" dirty="0">
                <a:effectLst/>
                <a:latin typeface="fkGroteskNeue"/>
              </a:rPr>
              <a:t>Both centralized and decentralized approaches maintain connectivity and achieve similar team performance in target engagement.</a:t>
            </a:r>
            <a:endParaRPr lang="en-US" dirty="0"/>
          </a:p>
        </p:txBody>
      </p:sp>
      <p:sp>
        <p:nvSpPr>
          <p:cNvPr id="65" name="object 18">
            <a:extLst>
              <a:ext uri="{FF2B5EF4-FFF2-40B4-BE49-F238E27FC236}">
                <a16:creationId xmlns:a16="http://schemas.microsoft.com/office/drawing/2014/main" id="{5FB0766D-566C-797E-FFC6-395C3F462096}"/>
              </a:ext>
            </a:extLst>
          </p:cNvPr>
          <p:cNvSpPr/>
          <p:nvPr/>
        </p:nvSpPr>
        <p:spPr>
          <a:xfrm>
            <a:off x="13543275" y="4436873"/>
            <a:ext cx="2511652" cy="4516784"/>
          </a:xfrm>
          <a:custGeom>
            <a:avLst/>
            <a:gdLst/>
            <a:ahLst/>
            <a:cxnLst/>
            <a:rect l="l" t="t" r="r" b="b"/>
            <a:pathLst>
              <a:path w="6179819" h="9427210">
                <a:moveTo>
                  <a:pt x="0" y="9426588"/>
                </a:moveTo>
                <a:lnTo>
                  <a:pt x="6179218" y="9426588"/>
                </a:lnTo>
                <a:lnTo>
                  <a:pt x="6179218" y="0"/>
                </a:lnTo>
                <a:lnTo>
                  <a:pt x="0" y="0"/>
                </a:lnTo>
                <a:lnTo>
                  <a:pt x="0" y="9426588"/>
                </a:lnTo>
                <a:close/>
              </a:path>
            </a:pathLst>
          </a:custGeom>
          <a:ln w="30714">
            <a:solidFill>
              <a:srgbClr val="FFC527"/>
            </a:solidFill>
          </a:ln>
        </p:spPr>
        <p:txBody>
          <a:bodyPr wrap="square" lIns="0" tIns="0" rIns="0" bIns="0" rtlCol="0"/>
          <a:lstStyle/>
          <a:p>
            <a:endParaRPr/>
          </a:p>
        </p:txBody>
      </p:sp>
      <p:sp>
        <p:nvSpPr>
          <p:cNvPr id="66" name="object 18">
            <a:extLst>
              <a:ext uri="{FF2B5EF4-FFF2-40B4-BE49-F238E27FC236}">
                <a16:creationId xmlns:a16="http://schemas.microsoft.com/office/drawing/2014/main" id="{B9F31B56-88FE-BCCC-8834-8617371B2B3F}"/>
              </a:ext>
            </a:extLst>
          </p:cNvPr>
          <p:cNvSpPr/>
          <p:nvPr/>
        </p:nvSpPr>
        <p:spPr>
          <a:xfrm>
            <a:off x="16145102" y="4443676"/>
            <a:ext cx="3572007" cy="4499979"/>
          </a:xfrm>
          <a:custGeom>
            <a:avLst/>
            <a:gdLst/>
            <a:ahLst/>
            <a:cxnLst/>
            <a:rect l="l" t="t" r="r" b="b"/>
            <a:pathLst>
              <a:path w="6179819" h="9427210">
                <a:moveTo>
                  <a:pt x="0" y="9426588"/>
                </a:moveTo>
                <a:lnTo>
                  <a:pt x="6179218" y="9426588"/>
                </a:lnTo>
                <a:lnTo>
                  <a:pt x="6179218" y="0"/>
                </a:lnTo>
                <a:lnTo>
                  <a:pt x="0" y="0"/>
                </a:lnTo>
                <a:lnTo>
                  <a:pt x="0" y="9426588"/>
                </a:lnTo>
                <a:close/>
              </a:path>
            </a:pathLst>
          </a:custGeom>
          <a:ln w="30714">
            <a:solidFill>
              <a:srgbClr val="FFC527"/>
            </a:solidFill>
          </a:ln>
        </p:spPr>
        <p:txBody>
          <a:bodyPr wrap="square" lIns="0" tIns="0" rIns="0" bIns="0" rtlCol="0"/>
          <a:lstStyle/>
          <a:p>
            <a:endParaRPr/>
          </a:p>
        </p:txBody>
      </p:sp>
      <p:sp>
        <p:nvSpPr>
          <p:cNvPr id="67" name="Rectangle 66">
            <a:extLst>
              <a:ext uri="{FF2B5EF4-FFF2-40B4-BE49-F238E27FC236}">
                <a16:creationId xmlns:a16="http://schemas.microsoft.com/office/drawing/2014/main" id="{146FE0C3-DD89-ABE3-9F82-3552ED5958BC}"/>
              </a:ext>
            </a:extLst>
          </p:cNvPr>
          <p:cNvSpPr/>
          <p:nvPr/>
        </p:nvSpPr>
        <p:spPr>
          <a:xfrm>
            <a:off x="357005" y="11960225"/>
            <a:ext cx="2989445" cy="126225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97</TotalTime>
  <Words>518</Words>
  <Application>Microsoft Office PowerPoint</Application>
  <PresentationFormat>Custom</PresentationFormat>
  <Paragraphs>37</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Cambria Math</vt:lpstr>
      <vt:lpstr>fkGroteskNeue</vt:lpstr>
      <vt:lpstr>Office Theme</vt:lpstr>
      <vt:lpstr>Distributed Control Framework for Connectivity Preservation and Collective Reconfiguration in Flow-Driven Robot Fleets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HBeshear</dc:creator>
  <cp:lastModifiedBy>Prajjwal Dutta (Student)</cp:lastModifiedBy>
  <cp:revision>1</cp:revision>
  <dcterms:created xsi:type="dcterms:W3CDTF">2025-10-20T02:37:48Z</dcterms:created>
  <dcterms:modified xsi:type="dcterms:W3CDTF">2025-10-21T19:23:53Z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2018-10-30T00:00:00Z</vt:filetime>
  </property>
  <property fmtid="{D5CDD505-2E9C-101B-9397-08002B2CF9AE}" pid="3" name="Creator">
    <vt:lpwstr>Microsoft® PowerPoint® for Office 365</vt:lpwstr>
  </property>
  <property fmtid="{D5CDD505-2E9C-101B-9397-08002B2CF9AE}" pid="4" name="LastSaved">
    <vt:filetime>2025-10-20T00:00:00Z</vt:filetime>
  </property>
  <property fmtid="{D5CDD505-2E9C-101B-9397-08002B2CF9AE}" pid="5" name="Producer">
    <vt:lpwstr>Microsoft® PowerPoint® for Office 365</vt:lpwstr>
  </property>
</Properties>
</file>